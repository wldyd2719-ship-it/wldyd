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notesMasterIdLst>
    <p:notesMasterId r:id="rId22"/>
  </p:notesMasterIdLst>
  <p:sldIdLst>
    <p:sldId id="282" r:id="rId2"/>
    <p:sldId id="283" r:id="rId3"/>
    <p:sldId id="256" r:id="rId4"/>
    <p:sldId id="262" r:id="rId5"/>
    <p:sldId id="263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80" r:id="rId16"/>
    <p:sldId id="276" r:id="rId17"/>
    <p:sldId id="274" r:id="rId18"/>
    <p:sldId id="275" r:id="rId19"/>
    <p:sldId id="277" r:id="rId20"/>
    <p:sldId id="281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 varScale="1">
        <p:scale>
          <a:sx n="69" d="100"/>
          <a:sy n="69" d="100"/>
        </p:scale>
        <p:origin x="84" y="120"/>
      </p:cViewPr>
      <p:guideLst>
        <p:guide orient="horz" pos="2153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2026-03-27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02844" y="860741"/>
            <a:ext cx="9082690" cy="55416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2075" y="283534"/>
            <a:ext cx="6745028" cy="3622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moore</a:t>
            </a:r>
            <a:r>
              <a:rPr lang="ko-KR" altLang="en-US"/>
              <a:t> </a:t>
            </a:r>
            <a:r>
              <a:rPr lang="en-US" altLang="ko-KR"/>
              <a:t> </a:t>
            </a:r>
            <a:r>
              <a:rPr lang="ko-KR" altLang="en-US"/>
              <a:t>와 </a:t>
            </a:r>
            <a:r>
              <a:rPr lang="en-US" altLang="ko-KR"/>
              <a:t>mealy machine </a:t>
            </a:r>
            <a:r>
              <a:rPr lang="ko-KR" altLang="en-US"/>
              <a:t>과의 차이점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2075" y="892691"/>
            <a:ext cx="4042587" cy="362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moore </a:t>
            </a:r>
            <a:r>
              <a:rPr lang="ko-KR" altLang="en-US"/>
              <a:t>의 장단점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2511" y="3285017"/>
            <a:ext cx="1960377" cy="3611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mealy </a:t>
            </a:r>
            <a:r>
              <a:rPr lang="ko-KR" altLang="en-US"/>
              <a:t>의 장단점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2511" y="1402168"/>
            <a:ext cx="4496686" cy="367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출력은 현재 상태에 의해 결정된다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510" y="3791835"/>
            <a:ext cx="4496687" cy="359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출력은 현재 상태 와 입력에  의해 결정된다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7569" y="4292895"/>
            <a:ext cx="4485609" cy="3629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flip-flop</a:t>
            </a:r>
            <a:r>
              <a:rPr lang="ko-KR" altLang="en-US"/>
              <a:t>의 갯수 가 적다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7569" y="1769745"/>
            <a:ext cx="3677093" cy="3619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/>
              <a:t>출력은 </a:t>
            </a:r>
            <a:r>
              <a:rPr lang="en-US" altLang="ko-KR"/>
              <a:t>clock</a:t>
            </a:r>
            <a:r>
              <a:rPr lang="ko-KR" altLang="en-US"/>
              <a:t> 에 동기 되어 변한다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000207" y="2119129"/>
            <a:ext cx="4191585" cy="26197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45854" y="438592"/>
            <a:ext cx="7088372" cy="3596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moore 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19981" y="587028"/>
            <a:ext cx="10473867" cy="22780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Moore Machine Ring Counter 을 이용한 설</a:t>
            </a: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계</a:t>
            </a:r>
          </a:p>
          <a:p>
            <a:pPr algn="l">
              <a:defRPr/>
            </a:pPr>
            <a:endParaRPr lang="ko-KR" altLang="en-US" sz="1800" b="0" i="0" strike="noStrike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회로는 의 값을 받아 초기화 하고 의 입력을 받아 가 변하도록 설계 RESETN , X State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된다 각 일 때 로 출력되는 값은 . State LED “10000000”, “01000000”, “00100000”,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… , “00000010”, “00000001”, “10000000”, “01000000”, .. 의 순서로 계속 값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반복되도록 설계된다.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이 회로에서 과 는 버튼 스위치 의 입력에 연결하고 출력 의 비 RESETN X SW1, SW2 , Y 8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트 데이터는 개의 에 연결하여 장비에서 회로의 동작을 확인해 보자 8 LED ,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2817974" y="2009185"/>
            <a:ext cx="36920804" cy="364902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module HB_MOORE_RING(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RESETN,X, Y);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input RESETN;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input X;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output [7:0] Y;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reg [7:0] Y;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reg [2:0] RING_STATE;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parameter S1=3'b000, S2=3'b001, S3=3'b010, S4=3'b011;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parameter S5=3'b100, S6=3'b101, S7=3'b110, S8=3'b111;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always @(posedge RESETN or posedge X)begin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if (RESETN) RING_STATE = S1;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else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case(RING_STATE)S1 : RING_STATE = S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60971" y="444363"/>
            <a:ext cx="11870056" cy="66689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module HB_MOORE_RING(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RESETN,X, Y);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input RESETN;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input X;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output [7:0] Y;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reg [7:0] Y;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reg [2:0] RING_STATE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parameter S1=3'b000, S2=3'b001, S3=3'b010, S4=3'b011;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parameter S5=3'b100, S6=3'b101, S7=3'b110, S8=3'b111;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always @(posedge RESETN or posedge X)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begin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if (RESETN) RING_STATE = S1;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else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case(RING_STATE)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S1 : RING_STATE = S2;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S2 : RING_STATE = S3;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S3 : RING_STATE = S4;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S4 : RING_STATE = S5;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S5 : RING_STATE = S6;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S6 : RING_STATE = S7;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S7 : RING_STATE = S8;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S8 : RING_STATE = S1;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default : RING_STATE = S1;</a:t>
            </a:r>
          </a:p>
          <a:p>
            <a:pPr algn="l">
              <a:defRPr/>
            </a:pPr>
            <a:endParaRPr lang="en-US" altLang="ko-KR" sz="1800" b="0" i="0" strike="noStrike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83123" y="664557"/>
            <a:ext cx="7279006" cy="47532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endcase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end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always @(RING_STATE)begin</a:t>
            </a:r>
          </a:p>
          <a:p>
            <a:pPr algn="l">
              <a:defRPr/>
            </a:pPr>
            <a:r>
              <a:rPr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case(RING_STATE)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S1 : Y &lt;= 8'b10000000;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S2 : Y &lt;= 8'b01000000;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S3 : Y &lt;= 8'b00100000;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S4 : Y &lt;= 8'b00010000;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S5 : Y &lt;= 8'b00001000;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S6 : Y &lt;= 8'b00000100;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S7 : Y &lt;= 8'b00000010;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S8 : Y &lt;= 8'b00000001;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default : Y = 8'b00000000;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endcase</a:t>
            </a:r>
          </a:p>
          <a:p>
            <a:pPr algn="l">
              <a:defRPr/>
            </a:pPr>
            <a:r>
              <a:rPr lang="ko-KR" altLang="en-US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en</a:t>
            </a: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d</a:t>
            </a:r>
          </a:p>
          <a:p>
            <a:pPr algn="l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endmodule</a:t>
            </a:r>
          </a:p>
          <a:p>
            <a:pPr algn="l">
              <a:defRPr/>
            </a:pPr>
            <a:endParaRPr lang="ko-KR" altLang="en-US" sz="1800" b="0" i="0" strike="noStrike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2008897" y="1738865"/>
            <a:ext cx="6335661" cy="438068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513906" y="416441"/>
            <a:ext cx="6523518" cy="3627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moore 101 detector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2299138" y="1699568"/>
            <a:ext cx="6335762" cy="419239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846302" y="456543"/>
            <a:ext cx="9546896" cy="522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0" i="0" u="none" strike="noStrike">
                <a:solidFill>
                  <a:srgbClr val="000000"/>
                </a:solidFill>
                <a:latin typeface="함초롬바탕"/>
                <a:ea typeface="함초롬바탕"/>
              </a:rPr>
              <a:t>mealy_101_dector diagram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0" y="3166110"/>
            <a:ext cx="6096000" cy="527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00445" y="1638050"/>
            <a:ext cx="2391108" cy="3581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2336" y="390853"/>
            <a:ext cx="3755259" cy="359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moore 110dector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737124" y="687705"/>
            <a:ext cx="10301716" cy="243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endParaRPr sz="1000" b="0" i="0" strike="noStrike">
              <a:solidFill>
                <a:srgbClr val="008080">
                  <a:alpha val="100000"/>
                </a:srgbClr>
              </a:solidFill>
              <a:latin typeface="Arial"/>
              <a:ea typeface="굴림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0330" y="290578"/>
            <a:ext cx="8505825" cy="64893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100"/>
              <a:t>module moore110(input  clk,  input  reset,  input  din,   output  dout,output reg [1:0] state);</a:t>
            </a:r>
          </a:p>
          <a:p>
            <a:pPr>
              <a:defRPr/>
            </a:pPr>
            <a:r>
              <a:rPr lang="en-US" altLang="en-US" sz="2100"/>
              <a:t>  parameter  S0 = 2'b00, S1=2'b01, S2=2'b10, S3=2'b11 ;</a:t>
            </a:r>
          </a:p>
          <a:p>
            <a:pPr>
              <a:defRPr/>
            </a:pPr>
            <a:r>
              <a:rPr lang="en-US" altLang="en-US" sz="2100"/>
              <a:t>  reg [1:0] state;</a:t>
            </a:r>
          </a:p>
          <a:p>
            <a:pPr>
              <a:defRPr/>
            </a:pPr>
            <a:endParaRPr lang="en-US" altLang="en-US" sz="2100"/>
          </a:p>
          <a:p>
            <a:pPr>
              <a:defRPr/>
            </a:pPr>
            <a:r>
              <a:rPr lang="en-US" altLang="en-US" sz="2100"/>
              <a:t>  always @(posedge clk or negedge reset) begin</a:t>
            </a:r>
          </a:p>
          <a:p>
            <a:pPr>
              <a:defRPr/>
            </a:pPr>
            <a:r>
              <a:rPr lang="en-US" altLang="en-US" sz="2100"/>
              <a:t>    if(!reset) begin</a:t>
            </a:r>
          </a:p>
          <a:p>
            <a:pPr>
              <a:defRPr/>
            </a:pPr>
            <a:r>
              <a:rPr lang="en-US" altLang="en-US" sz="2100"/>
              <a:t>      state &lt;= S0;    end</a:t>
            </a:r>
          </a:p>
          <a:p>
            <a:pPr>
              <a:defRPr/>
            </a:pPr>
            <a:r>
              <a:rPr lang="en-US" altLang="en-US" sz="2100"/>
              <a:t>    else begin</a:t>
            </a:r>
          </a:p>
          <a:p>
            <a:pPr>
              <a:defRPr/>
            </a:pPr>
            <a:r>
              <a:rPr lang="en-US" altLang="en-US" sz="2100"/>
              <a:t>      case(state)</a:t>
            </a:r>
          </a:p>
          <a:p>
            <a:pPr>
              <a:defRPr/>
            </a:pPr>
            <a:r>
              <a:rPr lang="en-US" altLang="en-US" sz="2100"/>
              <a:t>        S0: begin</a:t>
            </a:r>
          </a:p>
          <a:p>
            <a:pPr>
              <a:defRPr/>
            </a:pPr>
            <a:r>
              <a:rPr lang="en-US" altLang="en-US" sz="2100"/>
              <a:t>          if(din)            state &lt;= S1;</a:t>
            </a:r>
          </a:p>
          <a:p>
            <a:pPr>
              <a:defRPr/>
            </a:pPr>
            <a:r>
              <a:rPr lang="en-US" altLang="en-US" sz="2100"/>
              <a:t>          else            state &lt;= S0;        end</a:t>
            </a:r>
          </a:p>
          <a:p>
            <a:pPr>
              <a:defRPr/>
            </a:pPr>
            <a:r>
              <a:rPr lang="en-US" altLang="en-US" sz="2100"/>
              <a:t>        S1: begin  </a:t>
            </a:r>
          </a:p>
          <a:p>
            <a:pPr>
              <a:defRPr/>
            </a:pPr>
            <a:r>
              <a:rPr lang="en-US" altLang="en-US" sz="2100"/>
              <a:t>          if(din)            state &lt;= S2;</a:t>
            </a:r>
          </a:p>
          <a:p>
            <a:pPr>
              <a:defRPr/>
            </a:pPr>
            <a:r>
              <a:rPr lang="en-US" altLang="en-US" sz="2100"/>
              <a:t>          else            state &lt;= S0;        end</a:t>
            </a:r>
          </a:p>
          <a:p>
            <a:pPr>
              <a:defRPr/>
            </a:pPr>
            <a:r>
              <a:rPr lang="en-US" altLang="en-US" sz="2100"/>
              <a:t>        S2: begin</a:t>
            </a:r>
          </a:p>
          <a:p>
            <a:pPr>
              <a:defRPr/>
            </a:pPr>
            <a:r>
              <a:rPr lang="en-US" altLang="en-US" sz="2100"/>
              <a:t>            if(~din)            state &lt;= S3; </a:t>
            </a:r>
          </a:p>
          <a:p>
            <a:pPr>
              <a:defRPr/>
            </a:pPr>
            <a:r>
              <a:rPr lang="en-US" altLang="en-US" sz="2100"/>
              <a:t>            else            state &lt;= S2;          end</a:t>
            </a:r>
          </a:p>
          <a:p>
            <a:pPr>
              <a:defRPr/>
            </a:pPr>
            <a:r>
              <a:rPr lang="en-US" altLang="en-US" sz="2100"/>
              <a:t>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07224" y="892799"/>
            <a:ext cx="7749189" cy="257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1120" b="0" i="0" strike="noStrike">
                <a:solidFill>
                  <a:srgbClr val="000000">
                    <a:alpha val="100000"/>
                  </a:srgbClr>
                </a:solidFill>
                <a:latin typeface="Monaco"/>
                <a:ea typeface="Monaco"/>
              </a:rPr>
              <a:t> </a:t>
            </a:r>
            <a:endParaRPr lang="en-US" altLang="ko-KR" sz="1400"/>
          </a:p>
        </p:txBody>
      </p:sp>
      <p:sp>
        <p:nvSpPr>
          <p:cNvPr id="3" name="TextBox 2"/>
          <p:cNvSpPr txBox="1"/>
          <p:nvPr/>
        </p:nvSpPr>
        <p:spPr>
          <a:xfrm>
            <a:off x="1541720" y="724851"/>
            <a:ext cx="6096000" cy="3235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/>
              <a:t> </a:t>
            </a:r>
            <a:r>
              <a:rPr lang="en-US" altLang="en-US" sz="2300"/>
              <a:t>S3: begin</a:t>
            </a:r>
          </a:p>
          <a:p>
            <a:pPr>
              <a:defRPr/>
            </a:pPr>
            <a:r>
              <a:rPr lang="en-US" altLang="en-US" sz="2300"/>
              <a:t>         if(din)            state &lt;= S1;</a:t>
            </a:r>
          </a:p>
          <a:p>
            <a:pPr>
              <a:defRPr/>
            </a:pPr>
            <a:r>
              <a:rPr lang="en-US" altLang="en-US" sz="2300"/>
              <a:t>          else            state &lt;= S0;        end</a:t>
            </a:r>
          </a:p>
          <a:p>
            <a:pPr>
              <a:defRPr/>
            </a:pPr>
            <a:r>
              <a:rPr lang="en-US" altLang="en-US" sz="2300"/>
              <a:t>      endcase</a:t>
            </a:r>
          </a:p>
          <a:p>
            <a:pPr>
              <a:defRPr/>
            </a:pPr>
            <a:r>
              <a:rPr lang="en-US" altLang="en-US" sz="2300"/>
              <a:t>    end</a:t>
            </a:r>
          </a:p>
          <a:p>
            <a:pPr>
              <a:defRPr/>
            </a:pPr>
            <a:r>
              <a:rPr lang="en-US" altLang="en-US" sz="2300"/>
              <a:t>   end</a:t>
            </a:r>
          </a:p>
          <a:p>
            <a:pPr>
              <a:defRPr/>
            </a:pPr>
            <a:r>
              <a:rPr lang="en-US" altLang="en-US" sz="2300"/>
              <a:t>  assign dout = (state==S3);</a:t>
            </a:r>
          </a:p>
          <a:p>
            <a:pPr>
              <a:defRPr/>
            </a:pPr>
            <a:r>
              <a:rPr lang="en-US" altLang="en-US" sz="2300"/>
              <a:t>endmodule</a:t>
            </a:r>
          </a:p>
          <a:p>
            <a:pPr>
              <a:defRPr/>
            </a:pPr>
            <a:endParaRPr lang="ko-KR" altLang="en-US" sz="23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71866" y="1676155"/>
            <a:ext cx="2448266" cy="350568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57940" y="631715"/>
            <a:ext cx="7291551" cy="3665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mealy110 dector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68433" y="62509"/>
            <a:ext cx="8754068" cy="679549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module mealy110(input clk,   input  reset,  input  din, output reg [1:0] state, output  dout);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parameter [1:0] S0=2'b00, S1=2'b01, S2=2'b10 ,S3=2'b11;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always @(posedge clk or negedge reset) begin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if(!reset) begin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state &lt;= S0;    end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else begin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case(state)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S0: begin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  if(din)           state &lt;= S1;      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  else              state &lt;= S0;          end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S1: begin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 if(din)           state &lt;= S2;           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  else            state &lt;= S0;          end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S2: begin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  if(din)            state &lt;= S2;          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  else           state &lt;= S0;            end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endcase  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end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   end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     assign dout = (state == S2) &amp;&amp; (din==0) ;   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 spc="0">
                <a:solidFill>
                  <a:srgbClr val="008080">
                    <a:alpha val="100000"/>
                  </a:srgbClr>
                </a:solidFill>
                <a:latin typeface="Arial"/>
                <a:ea typeface="굴림"/>
              </a:rPr>
              <a:t>endmodule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28957" y="1167483"/>
            <a:ext cx="5608446" cy="52134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8121" y="383214"/>
            <a:ext cx="6058343" cy="367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rw mealy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1251388" y="1215767"/>
            <a:ext cx="9373833" cy="520629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1251388" y="347060"/>
            <a:ext cx="4368362" cy="365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fsm1010111detector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64073" y="1358712"/>
            <a:ext cx="7673229" cy="49389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1331" y="193301"/>
            <a:ext cx="3669927" cy="36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rwmoore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92827" y="826770"/>
            <a:ext cx="5864921" cy="56363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67045" y="460743"/>
            <a:ext cx="4540989" cy="3660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rwmoore1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C3EBB3-CD67-4F94-ABEC-EFBFC1339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48" y="0"/>
            <a:ext cx="1162670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25FACA5-DA0B-4D0A-B150-40A8A4786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0" y="942628"/>
            <a:ext cx="11888859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68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52126" y="647312"/>
            <a:ext cx="7687747" cy="55633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Office PowerPoint</Application>
  <PresentationFormat>와이드스크린</PresentationFormat>
  <Paragraphs>126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Monaco</vt:lpstr>
      <vt:lpstr>굴림</vt:lpstr>
      <vt:lpstr>맑은 고딕</vt:lpstr>
      <vt:lpstr>함초롬바탕</vt:lpstr>
      <vt:lpstr>Arial</vt:lpstr>
      <vt:lpstr>Calibri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note</dc:creator>
  <cp:lastModifiedBy>SAMSUNG</cp:lastModifiedBy>
  <cp:revision>59</cp:revision>
  <dcterms:created xsi:type="dcterms:W3CDTF">2024-05-19T03:12:58Z</dcterms:created>
  <dcterms:modified xsi:type="dcterms:W3CDTF">2026-03-27T03:48:33Z</dcterms:modified>
  <cp:version>1100.0100.01</cp:version>
</cp:coreProperties>
</file>