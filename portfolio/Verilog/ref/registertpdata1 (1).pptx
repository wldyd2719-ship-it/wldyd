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2" r:id="rId1"/>
    <p:sldMasterId id="2147483743" r:id="rId2"/>
  </p:sldMasterIdLst>
  <p:notesMasterIdLst>
    <p:notesMasterId r:id="rId45"/>
  </p:notesMasterIdLst>
  <p:sldIdLst>
    <p:sldId id="256" r:id="rId3"/>
    <p:sldId id="257" r:id="rId4"/>
    <p:sldId id="290" r:id="rId5"/>
    <p:sldId id="258" r:id="rId6"/>
    <p:sldId id="259" r:id="rId7"/>
    <p:sldId id="291" r:id="rId8"/>
    <p:sldId id="292" r:id="rId9"/>
    <p:sldId id="260" r:id="rId10"/>
    <p:sldId id="261" r:id="rId11"/>
    <p:sldId id="289" r:id="rId12"/>
    <p:sldId id="262" r:id="rId13"/>
    <p:sldId id="263" r:id="rId14"/>
    <p:sldId id="264" r:id="rId15"/>
    <p:sldId id="293" r:id="rId16"/>
    <p:sldId id="294" r:id="rId17"/>
    <p:sldId id="265" r:id="rId18"/>
    <p:sldId id="266" r:id="rId19"/>
    <p:sldId id="267" r:id="rId20"/>
    <p:sldId id="268" r:id="rId21"/>
    <p:sldId id="295" r:id="rId22"/>
    <p:sldId id="296" r:id="rId23"/>
    <p:sldId id="269" r:id="rId24"/>
    <p:sldId id="270" r:id="rId25"/>
    <p:sldId id="271" r:id="rId26"/>
    <p:sldId id="272" r:id="rId27"/>
    <p:sldId id="273" r:id="rId28"/>
    <p:sldId id="274" r:id="rId29"/>
    <p:sldId id="279" r:id="rId30"/>
    <p:sldId id="280" r:id="rId31"/>
    <p:sldId id="283" r:id="rId32"/>
    <p:sldId id="297" r:id="rId33"/>
    <p:sldId id="298" r:id="rId34"/>
    <p:sldId id="299" r:id="rId35"/>
    <p:sldId id="300" r:id="rId36"/>
    <p:sldId id="281" r:id="rId37"/>
    <p:sldId id="282" r:id="rId38"/>
    <p:sldId id="301" r:id="rId39"/>
    <p:sldId id="302" r:id="rId40"/>
    <p:sldId id="275" r:id="rId41"/>
    <p:sldId id="277" r:id="rId42"/>
    <p:sldId id="278" r:id="rId43"/>
    <p:sldId id="284" r:id="rId44"/>
  </p:sldIdLst>
  <p:sldSz cx="9136063" cy="685006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>
        <a:alpha val="100000"/>
      </a:srgbClr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27" cy="7202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2460" y="685800"/>
            <a:ext cx="457308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1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6798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4126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55628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4642956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55526" y="6348852"/>
            <a:ext cx="2131615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2026-04-02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0478" y="6348852"/>
            <a:ext cx="2893468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01228" y="6390101"/>
            <a:ext cx="1980796" cy="457145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590833F9-B7D2-4749-AA22-91E32301AE5F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>
              <a:defRPr sz="1411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2314" y="2130425"/>
            <a:ext cx="121920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"/>
          </p:nvPr>
        </p:nvSpPr>
        <p:spPr>
          <a:xfrm>
            <a:off x="2859322" y="2196090"/>
            <a:ext cx="6475199" cy="32400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1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6798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4126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55628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4642956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55526" y="6348852"/>
            <a:ext cx="2131615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2026-04-02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0478" y="6348852"/>
            <a:ext cx="2893468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01228" y="6390101"/>
            <a:ext cx="1980796" cy="457145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62444580-8764-4A76-B185-04EC2A6D56FF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>
              <a:defRPr sz="1411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2314" y="2130425"/>
            <a:ext cx="121920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"/>
          </p:nvPr>
        </p:nvSpPr>
        <p:spPr>
          <a:xfrm>
            <a:off x="2859322" y="2196090"/>
            <a:ext cx="6475199" cy="32400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내용 4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ChangeArrowheads="1"/>
          </p:cNvSpPr>
          <p:nvPr/>
        </p:nvSpPr>
        <p:spPr>
          <a:xfrm>
            <a:off x="150813" y="37941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>
          <a:xfrm>
            <a:off x="150813" y="639286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30129" y="439674"/>
            <a:ext cx="8404277" cy="7872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2075" tIns="46038" rIns="92075" bIns="46038" anchor="ctr" anchorCtr="0">
            <a:prstTxWarp prst="textNoShape">
              <a:avLst/>
            </a:prstTxWarp>
            <a:noAutofit/>
          </a:bodyPr>
          <a:lstStyle/>
          <a:p>
            <a:pPr marL="0" lvl="0" indent="0" algn="ctr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4400" b="0" i="0" baseline="0">
                <a:solidFill>
                  <a:schemeClr val="tx2"/>
                </a:solidFill>
                <a:latin typeface="Arial"/>
                <a:sym typeface="Arial"/>
              </a:rPr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42566" y="3979119"/>
            <a:ext cx="4034713" cy="21951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마스터 텍스트 스타일을 편집합니다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둘째 수준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셋째 수준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넷째 수준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5526" y="6348852"/>
            <a:ext cx="2131615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422D86A-5F52-4165-8473-F1B836277586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2026-04-02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0478" y="6348852"/>
            <a:ext cx="2893468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01228" y="6390101"/>
            <a:ext cx="1980796" cy="4571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6ACFBB0D-5BD5-4181-B769-28EDB271B452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  <a:cs typeface="+mn-cs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ransition/>
  <p:txStyles>
    <p:titleStyle>
      <a:lvl1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/>
        </a:defRPr>
      </a:lvl1pPr>
      <a:lvl2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2pPr>
      <a:lvl3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3pPr>
      <a:lvl4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4pPr>
      <a:lvl5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5pPr>
      <a:lvl6pPr marL="4572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6pPr>
      <a:lvl7pPr marL="9144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7pPr>
      <a:lvl8pPr marL="13716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8pPr>
      <a:lvl9pPr marL="18288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marL="742950" indent="-28575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marL="11430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marL="16002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marL="20574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빈 화면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6798" y="274332"/>
            <a:ext cx="8222388" cy="11417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6798" y="1598420"/>
            <a:ext cx="8222388" cy="452092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2050" name="Rectangle 4"/>
          <p:cNvSpPr>
            <a:spLocks noChangeArrowheads="1"/>
          </p:cNvSpPr>
          <p:nvPr/>
        </p:nvSpPr>
        <p:spPr>
          <a:xfrm>
            <a:off x="150813" y="37941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2051" name="Rectangle 5"/>
          <p:cNvSpPr>
            <a:spLocks noChangeArrowheads="1"/>
          </p:cNvSpPr>
          <p:nvPr/>
        </p:nvSpPr>
        <p:spPr>
          <a:xfrm>
            <a:off x="150813" y="639286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5526" y="6348852"/>
            <a:ext cx="2131615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422D86A-5F52-4165-8473-F1B836277586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2026-04-02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0478" y="6348852"/>
            <a:ext cx="2893468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01228" y="6390101"/>
            <a:ext cx="1980796" cy="4571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F6F39117-D202-44EA-876E-1DE6ECA28379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  <a:cs typeface="+mn-cs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</p:sldLayoutIdLst>
  <p:transition/>
  <p:txStyles>
    <p:titleStyle>
      <a:lvl1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/>
        </a:defRPr>
      </a:lvl1pPr>
      <a:lvl2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2pPr>
      <a:lvl3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3pPr>
      <a:lvl4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4pPr>
      <a:lvl5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5pPr>
      <a:lvl6pPr marL="4572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6pPr>
      <a:lvl7pPr marL="9144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7pPr>
      <a:lvl8pPr marL="13716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8pPr>
      <a:lvl9pPr marL="18288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marL="742950" indent="-28575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marL="11430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marL="16002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marL="20574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073"/>
          <p:cNvSpPr txBox="1"/>
          <p:nvPr/>
        </p:nvSpPr>
        <p:spPr>
          <a:xfrm>
            <a:off x="174597" y="544388"/>
            <a:ext cx="4825089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데이터의 저장과 전송</a:t>
            </a:r>
          </a:p>
        </p:txBody>
      </p:sp>
      <p:pic>
        <p:nvPicPr>
          <p:cNvPr id="3075" name="그림 3074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2815715" y="1425300"/>
            <a:ext cx="3504559" cy="39997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4097"/>
          <p:cNvSpPr txBox="1"/>
          <p:nvPr/>
        </p:nvSpPr>
        <p:spPr>
          <a:xfrm>
            <a:off x="822627" y="1480894"/>
            <a:ext cx="7130672" cy="38702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module registertrans(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input DATA_IN, CLK1</a:t>
            </a:r>
            <a:r>
              <a:rPr kumimoji="1" lang="en-US" altLang="ko-KR" sz="1600" b="0" i="0" baseline="0">
                <a:solidFill>
                  <a:schemeClr val="tx1"/>
                </a:solidFill>
                <a:latin typeface="Arial"/>
              </a:rPr>
              <a:t>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output reg [3:0] A, B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);</a:t>
            </a:r>
          </a:p>
          <a:p>
            <a:pPr marL="0" lvl="0" indent="0" algn="l" rtl="0" eaLnBrk="0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@(posedge CLK1)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A &lt;= DATA_IN;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 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6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@(posedge CLK</a:t>
            </a:r>
            <a:r>
              <a:rPr kumimoji="1" lang="en-US" altLang="ko-KR" sz="1600" b="0" i="0" baseline="0">
                <a:solidFill>
                  <a:schemeClr val="tx1"/>
                </a:solidFill>
                <a:latin typeface="Arial"/>
              </a:rPr>
              <a:t>1</a:t>
            </a: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 &lt;= A;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4099" name="TextBox 4098"/>
          <p:cNvSpPr txBox="1"/>
          <p:nvPr/>
        </p:nvSpPr>
        <p:spPr>
          <a:xfrm>
            <a:off x="1687196" y="760290"/>
            <a:ext cx="4609243" cy="6459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</a:rPr>
              <a:t>데이터의 저장과 전송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9358" y="497920"/>
            <a:ext cx="8217346" cy="5854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 / 1ps</a:t>
            </a:r>
          </a:p>
          <a:p>
            <a:pPr>
              <a:defRPr/>
            </a:pPr>
            <a:r>
              <a:rPr lang="en-US"/>
              <a:t>module register_trans_tb;</a:t>
            </a:r>
          </a:p>
          <a:p>
            <a:pPr>
              <a:defRPr/>
            </a:pPr>
            <a:r>
              <a:rPr lang="en-US"/>
              <a:t>reg DATA_IN;</a:t>
            </a:r>
            <a:r>
              <a:rPr lang="ko-KR" altLang="en-US"/>
              <a:t>  </a:t>
            </a:r>
            <a:r>
              <a:rPr lang="en-US"/>
              <a:t>reg CLK1;</a:t>
            </a:r>
            <a:r>
              <a:rPr lang="ko-KR" altLang="en-US"/>
              <a:t>  </a:t>
            </a:r>
            <a:r>
              <a:rPr lang="en-US"/>
              <a:t>wire [3:0] A;</a:t>
            </a:r>
            <a:r>
              <a:rPr lang="ko-KR" altLang="en-US"/>
              <a:t>  </a:t>
            </a:r>
            <a:r>
              <a:rPr lang="en-US"/>
              <a:t>wire [3:0] B;</a:t>
            </a:r>
          </a:p>
          <a:p>
            <a:pPr>
              <a:defRPr/>
            </a:pPr>
            <a:r>
              <a:rPr lang="en-US"/>
              <a:t>register_trans dut (</a:t>
            </a:r>
          </a:p>
          <a:p>
            <a:pPr>
              <a:defRPr/>
            </a:pPr>
            <a:r>
              <a:rPr lang="en-US"/>
              <a:t>    .DATA_IN(DATA_IN),</a:t>
            </a:r>
          </a:p>
          <a:p>
            <a:pPr>
              <a:defRPr/>
            </a:pPr>
            <a:r>
              <a:rPr lang="en-US"/>
              <a:t>    .CLK1(CLK1),</a:t>
            </a:r>
          </a:p>
          <a:p>
            <a:pPr>
              <a:defRPr/>
            </a:pPr>
            <a:r>
              <a:rPr lang="en-US"/>
              <a:t>    .A(A),</a:t>
            </a:r>
          </a:p>
          <a:p>
            <a:pPr>
              <a:defRPr/>
            </a:pPr>
            <a:r>
              <a:rPr lang="en-US"/>
              <a:t>    .B(B)  );</a:t>
            </a:r>
          </a:p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   CLK1 = 0;</a:t>
            </a:r>
          </a:p>
          <a:p>
            <a:pPr>
              <a:defRPr/>
            </a:pPr>
            <a:r>
              <a:rPr lang="en-US"/>
              <a:t>    forever #5 CLK1 = ~CLK1;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    DATA_IN = 0;</a:t>
            </a:r>
          </a:p>
          <a:p>
            <a:pPr>
              <a:defRPr/>
            </a:pPr>
            <a:r>
              <a:rPr lang="en-US"/>
              <a:t>    $monitor("Time=%0t | DATA_IN=%b A=%b B=%b", $time, DATA_IN, A, B);</a:t>
            </a:r>
          </a:p>
          <a:p>
            <a:pPr>
              <a:defRPr/>
            </a:pPr>
            <a:r>
              <a:rPr lang="en-US"/>
              <a:t>    #7  DATA_IN = 1;</a:t>
            </a:r>
            <a:r>
              <a:rPr lang="ko-KR" altLang="en-US"/>
              <a:t>  </a:t>
            </a:r>
            <a:r>
              <a:rPr lang="en-US"/>
              <a:t>    #10 DATA_IN = 0;</a:t>
            </a:r>
          </a:p>
          <a:p>
            <a:pPr>
              <a:defRPr/>
            </a:pPr>
            <a:r>
              <a:rPr lang="en-US"/>
              <a:t>    #10 DATA_IN = 1;</a:t>
            </a:r>
            <a:r>
              <a:rPr lang="ko-KR" altLang="en-US"/>
              <a:t>  </a:t>
            </a:r>
            <a:r>
              <a:rPr lang="en-US"/>
              <a:t>    #10 DATA_IN = 1;</a:t>
            </a:r>
          </a:p>
          <a:p>
            <a:pPr>
              <a:defRPr/>
            </a:pPr>
            <a:r>
              <a:rPr lang="en-US"/>
              <a:t>    #10 DATA_IN = 0;</a:t>
            </a:r>
            <a:r>
              <a:rPr lang="ko-KR" altLang="en-US"/>
              <a:t>  </a:t>
            </a:r>
            <a:r>
              <a:rPr lang="en-US"/>
              <a:t>    #30;     $finish;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endmodule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5121"/>
          <p:cNvSpPr txBox="1"/>
          <p:nvPr/>
        </p:nvSpPr>
        <p:spPr>
          <a:xfrm>
            <a:off x="392062" y="688844"/>
            <a:ext cx="4823526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4bit 쉬프트 레지스터</a:t>
            </a:r>
          </a:p>
        </p:txBody>
      </p:sp>
      <p:pic>
        <p:nvPicPr>
          <p:cNvPr id="5123" name="그림 5122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039601" y="2128433"/>
            <a:ext cx="7272632" cy="23776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6145"/>
          <p:cNvSpPr txBox="1"/>
          <p:nvPr/>
        </p:nvSpPr>
        <p:spPr>
          <a:xfrm>
            <a:off x="1399903" y="1120592"/>
            <a:ext cx="4567994" cy="52615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module shift4(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input   RESETN, DATA_IN, CLK,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output reg [3:0] Q      );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@(posedge RESETN or posedge CLK)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if (RESETN == 1'b1)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Q &lt;= 4'b0000;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Q[2:0] &lt;= Q[3:1];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Q[3] &lt;= DATA_IN;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6147" name="TextBox 6146"/>
          <p:cNvSpPr txBox="1"/>
          <p:nvPr/>
        </p:nvSpPr>
        <p:spPr>
          <a:xfrm>
            <a:off x="1399903" y="617397"/>
            <a:ext cx="4680690" cy="3682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4bit shiftregister</a:t>
            </a:r>
            <a:r>
              <a:rPr kumimoji="1" lang="en-US" altLang="ko-KR" sz="1800" b="0" i="0" baseline="0">
                <a:solidFill>
                  <a:schemeClr val="tx1"/>
                </a:solidFill>
                <a:latin typeface="Arial"/>
              </a:rPr>
              <a:t>(</a:t>
            </a: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우쉬프트</a:t>
            </a:r>
            <a:r>
              <a:rPr kumimoji="1" lang="en-US" altLang="ko-KR" sz="1800" b="0" i="0" baseline="0">
                <a:solidFill>
                  <a:schemeClr val="tx1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2492" y="494930"/>
            <a:ext cx="8211078" cy="5860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 / 1ps</a:t>
            </a:r>
          </a:p>
          <a:p>
            <a:pPr>
              <a:defRPr/>
            </a:pPr>
            <a:r>
              <a:rPr lang="en-US"/>
              <a:t>module shift4_tb;</a:t>
            </a:r>
          </a:p>
          <a:p>
            <a:pPr>
              <a:defRPr/>
            </a:pPr>
            <a:r>
              <a:rPr lang="en-US"/>
              <a:t>    reg RESETN;</a:t>
            </a:r>
            <a:r>
              <a:rPr lang="ko-KR" altLang="en-US"/>
              <a:t>  </a:t>
            </a:r>
            <a:r>
              <a:rPr lang="en-US"/>
              <a:t>    reg DATA_IN;</a:t>
            </a:r>
            <a:r>
              <a:rPr lang="ko-KR" altLang="en-US"/>
              <a:t>  </a:t>
            </a:r>
            <a:r>
              <a:rPr lang="en-US"/>
              <a:t>    reg CLK;</a:t>
            </a:r>
          </a:p>
          <a:p>
            <a:pPr>
              <a:defRPr/>
            </a:pPr>
            <a:r>
              <a:rPr lang="en-US"/>
              <a:t>    wire [3:0] Q;</a:t>
            </a:r>
          </a:p>
          <a:p>
            <a:pPr>
              <a:defRPr/>
            </a:pPr>
            <a:r>
              <a:rPr lang="en-US"/>
              <a:t>    shift4 dut (</a:t>
            </a:r>
          </a:p>
          <a:p>
            <a:pPr>
              <a:defRPr/>
            </a:pPr>
            <a:r>
              <a:rPr lang="en-US"/>
              <a:t>        .RESETN(RESETN),        .DATA_IN(DATA_IN),</a:t>
            </a:r>
          </a:p>
          <a:p>
            <a:pPr>
              <a:defRPr/>
            </a:pPr>
            <a:r>
              <a:rPr lang="en-US"/>
              <a:t>        .CLK(CLK),</a:t>
            </a:r>
            <a:r>
              <a:rPr lang="ko-KR" altLang="en-US"/>
              <a:t>   </a:t>
            </a:r>
            <a:r>
              <a:rPr lang="en-US"/>
              <a:t>        .Q(Q)      );</a:t>
            </a:r>
          </a:p>
          <a:p>
            <a:pPr>
              <a:defRPr/>
            </a:pPr>
            <a:r>
              <a:rPr lang="en-US"/>
              <a:t>    initial begin</a:t>
            </a:r>
          </a:p>
          <a:p>
            <a:pPr>
              <a:defRPr/>
            </a:pPr>
            <a:r>
              <a:rPr lang="en-US"/>
              <a:t>        CLK = 0;</a:t>
            </a:r>
          </a:p>
          <a:p>
            <a:pPr>
              <a:defRPr/>
            </a:pPr>
            <a:r>
              <a:rPr lang="en-US"/>
              <a:t>        forever #5 CLK = ~CLK;</a:t>
            </a:r>
          </a:p>
          <a:p>
            <a:pPr>
              <a:defRPr/>
            </a:pPr>
            <a:r>
              <a:rPr lang="en-US"/>
              <a:t>    end</a:t>
            </a:r>
          </a:p>
          <a:p>
            <a:pPr>
              <a:defRPr/>
            </a:pPr>
            <a:r>
              <a:rPr lang="en-US"/>
              <a:t>    initial begin</a:t>
            </a:r>
          </a:p>
          <a:p>
            <a:pPr>
              <a:defRPr/>
            </a:pPr>
            <a:r>
              <a:rPr lang="en-US"/>
              <a:t>        RESETN = 0;</a:t>
            </a:r>
          </a:p>
          <a:p>
            <a:pPr>
              <a:defRPr/>
            </a:pPr>
            <a:r>
              <a:rPr lang="en-US"/>
              <a:t>        DATA_IN = 0;</a:t>
            </a:r>
          </a:p>
          <a:p>
            <a:pPr>
              <a:defRPr/>
            </a:pPr>
            <a:r>
              <a:rPr lang="en-US"/>
              <a:t>        #3  RESETN = 1;   </a:t>
            </a:r>
            <a:r>
              <a:rPr lang="ko-KR" altLang="en-US"/>
              <a:t> </a:t>
            </a:r>
            <a:r>
              <a:rPr lang="en-US"/>
              <a:t>        #10 RESETN = 0;   </a:t>
            </a:r>
          </a:p>
          <a:p>
            <a:pPr>
              <a:defRPr/>
            </a:pPr>
            <a:r>
              <a:rPr lang="en-US"/>
              <a:t>        #10 DATA_IN = 1;</a:t>
            </a:r>
            <a:r>
              <a:rPr lang="ko-KR" altLang="en-US"/>
              <a:t>   </a:t>
            </a:r>
            <a:r>
              <a:rPr lang="en-US"/>
              <a:t>        #10 DATA_IN = 0;</a:t>
            </a:r>
          </a:p>
          <a:p>
            <a:pPr>
              <a:defRPr/>
            </a:pPr>
            <a:r>
              <a:rPr lang="en-US"/>
              <a:t>        #10 DATA_IN = 1;</a:t>
            </a:r>
            <a:r>
              <a:rPr lang="ko-KR" altLang="en-US"/>
              <a:t>   </a:t>
            </a:r>
            <a:r>
              <a:rPr lang="en-US"/>
              <a:t>        #10 DATA_IN = 1;</a:t>
            </a:r>
          </a:p>
          <a:p>
            <a:pPr>
              <a:defRPr/>
            </a:pPr>
            <a:r>
              <a:rPr lang="en-US"/>
              <a:t>        #10 DATA_IN = 0;        #10 RESETN = 1;</a:t>
            </a:r>
          </a:p>
          <a:p>
            <a:pPr>
              <a:defRPr/>
            </a:pPr>
            <a:r>
              <a:rPr lang="en-US"/>
              <a:t>        #10 RESETN = 0;</a:t>
            </a:r>
            <a:r>
              <a:rPr lang="ko-KR" altLang="en-US"/>
              <a:t>  </a:t>
            </a:r>
            <a:r>
              <a:rPr lang="en-US"/>
              <a:t>        #50 $finish;</a:t>
            </a:r>
          </a:p>
          <a:p>
            <a:pPr>
              <a:defRPr/>
            </a:pPr>
            <a:r>
              <a:rPr lang="en-US"/>
              <a:t>    end</a:t>
            </a:r>
          </a:p>
          <a:p>
            <a:pPr>
              <a:defRPr/>
            </a:pPr>
            <a:r>
              <a:rPr lang="en-US"/>
              <a:t>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6412" y="904086"/>
            <a:ext cx="8643240" cy="1456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       $monitor("TIME=%0t | RESETN=%b | DATA_IN=%b | Q=%b",</a:t>
            </a:r>
          </a:p>
          <a:p>
            <a:pPr>
              <a:defRPr/>
            </a:pPr>
            <a:r>
              <a:rPr lang="en-US"/>
              <a:t>                  $time, RESETN, DATA_IN, Q);</a:t>
            </a:r>
          </a:p>
          <a:p>
            <a:pPr>
              <a:defRPr/>
            </a:pPr>
            <a:r>
              <a:rPr lang="en-US"/>
              <a:t>    end</a:t>
            </a:r>
          </a:p>
          <a:p>
            <a:pPr>
              <a:defRPr/>
            </a:pPr>
            <a:r>
              <a:rPr lang="en-US"/>
              <a:t>endmodule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7169"/>
          <p:cNvSpPr txBox="1"/>
          <p:nvPr/>
        </p:nvSpPr>
        <p:spPr>
          <a:xfrm>
            <a:off x="463452" y="617397"/>
            <a:ext cx="4320388" cy="4603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병렬입력 병렬출력 레지스터</a:t>
            </a:r>
          </a:p>
        </p:txBody>
      </p:sp>
      <p:sp>
        <p:nvSpPr>
          <p:cNvPr id="7171" name="TextBox 7170"/>
          <p:cNvSpPr txBox="1"/>
          <p:nvPr/>
        </p:nvSpPr>
        <p:spPr>
          <a:xfrm>
            <a:off x="1326894" y="1457060"/>
            <a:ext cx="9135988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7172" name="그림 7171" descr="EMB00006164136f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326894" y="2057043"/>
            <a:ext cx="5399675" cy="35267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직사각형 1"/>
          <p:cNvSpPr/>
          <p:nvPr/>
        </p:nvSpPr>
        <p:spPr>
          <a:xfrm>
            <a:off x="967575" y="544825"/>
            <a:ext cx="4568825" cy="53492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module simple_register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#(parameter N = 4) 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    input clk,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    input [N-1:0] I,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    output [N-1:0] Q</a:t>
            </a:r>
            <a:r>
              <a:rPr kumimoji="1" lang="ko-KR" altLang="en-US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 </a:t>
            </a: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reg [N-1:0] Q_reg, Q_next;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// 상태 저장 (순차회로)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always @(posedge clk)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    Q_reg &lt;= Q_next;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// 다음 상태 결정 (조합회로)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always @(*)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    Q_next = I;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assign Q = Q_reg;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endmodule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6411" y="500234"/>
            <a:ext cx="5690133" cy="585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1ns/1ps</a:t>
            </a:r>
          </a:p>
          <a:p>
            <a:pPr>
              <a:defRPr/>
            </a:pPr>
            <a:r>
              <a:rPr lang="en-US"/>
              <a:t>module simple_register_tb;</a:t>
            </a:r>
          </a:p>
          <a:p>
            <a:pPr>
              <a:defRPr/>
            </a:pPr>
            <a:r>
              <a:rPr lang="en-US"/>
              <a:t>parameter N = 4;</a:t>
            </a:r>
          </a:p>
          <a:p>
            <a:pPr>
              <a:defRPr/>
            </a:pPr>
            <a:r>
              <a:rPr lang="en-US"/>
              <a:t>reg clk;</a:t>
            </a:r>
          </a:p>
          <a:p>
            <a:pPr>
              <a:defRPr/>
            </a:pPr>
            <a:r>
              <a:rPr lang="en-US"/>
              <a:t>reg [N-1:0] I;</a:t>
            </a:r>
          </a:p>
          <a:p>
            <a:pPr>
              <a:defRPr/>
            </a:pPr>
            <a:r>
              <a:rPr lang="en-US"/>
              <a:t>wire [N-1:0] Q;</a:t>
            </a:r>
          </a:p>
          <a:p>
            <a:pPr>
              <a:defRPr/>
            </a:pPr>
            <a:r>
              <a:rPr lang="en-US"/>
              <a:t>simple_register #(N) dut (</a:t>
            </a:r>
          </a:p>
          <a:p>
            <a:pPr>
              <a:defRPr/>
            </a:pPr>
            <a:r>
              <a:rPr lang="en-US"/>
              <a:t>    .clk(clk),</a:t>
            </a:r>
          </a:p>
          <a:p>
            <a:pPr>
              <a:defRPr/>
            </a:pPr>
            <a:r>
              <a:rPr lang="en-US"/>
              <a:t>    .I(I),</a:t>
            </a:r>
          </a:p>
          <a:p>
            <a:pPr>
              <a:defRPr/>
            </a:pPr>
            <a:r>
              <a:rPr lang="en-US"/>
              <a:t>    .Q(Q)</a:t>
            </a:r>
            <a:r>
              <a:rPr lang="ko-KR" altLang="en-US"/>
              <a:t>   </a:t>
            </a:r>
            <a:r>
              <a:rPr lang="en-US"/>
              <a:t>);</a:t>
            </a:r>
          </a:p>
          <a:p>
            <a:pPr>
              <a:defRPr/>
            </a:pPr>
            <a:r>
              <a:rPr lang="en-US"/>
              <a:t>always #5 clk = ~clk;</a:t>
            </a:r>
          </a:p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   clk = 0;</a:t>
            </a:r>
            <a:r>
              <a:rPr lang="ko-KR" altLang="en-US"/>
              <a:t>   </a:t>
            </a:r>
            <a:r>
              <a:rPr lang="en-US"/>
              <a:t>    I = 0;</a:t>
            </a:r>
          </a:p>
          <a:p>
            <a:pPr>
              <a:defRPr/>
            </a:pPr>
            <a:r>
              <a:rPr lang="en-US"/>
              <a:t>    #7  I = 4'b0001;  </a:t>
            </a:r>
          </a:p>
          <a:p>
            <a:pPr>
              <a:defRPr/>
            </a:pPr>
            <a:r>
              <a:rPr lang="en-US"/>
              <a:t>    #10 I = 4'b0011;</a:t>
            </a:r>
          </a:p>
          <a:p>
            <a:pPr>
              <a:defRPr/>
            </a:pPr>
            <a:r>
              <a:rPr lang="en-US"/>
              <a:t>    #10 I = 4'b0101;</a:t>
            </a:r>
          </a:p>
          <a:p>
            <a:pPr>
              <a:defRPr/>
            </a:pPr>
            <a:r>
              <a:rPr lang="en-US"/>
              <a:t>    #10 I = 4'b1111;</a:t>
            </a:r>
          </a:p>
          <a:p>
            <a:pPr>
              <a:defRPr/>
            </a:pPr>
            <a:r>
              <a:rPr lang="en-US"/>
              <a:t>    #10 I = 4'b1010;</a:t>
            </a:r>
          </a:p>
          <a:p>
            <a:pPr>
              <a:defRPr/>
            </a:pPr>
            <a:r>
              <a:rPr lang="en-US"/>
              <a:t>    #20 $finish;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endmodule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9217"/>
          <p:cNvSpPr txBox="1"/>
          <p:nvPr/>
        </p:nvSpPr>
        <p:spPr>
          <a:xfrm>
            <a:off x="1111047" y="1264992"/>
            <a:ext cx="5740943" cy="42458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module pipo(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input  CLK, CLRN,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input [3:0] D,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output reg [3:0] Q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 );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always @(posedge CLRN or posedge CLK)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if (CLRN)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Q &lt;= 4'b0000;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Q &lt;= D;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9219" name="TextBox 9218"/>
          <p:cNvSpPr txBox="1"/>
          <p:nvPr/>
        </p:nvSpPr>
        <p:spPr>
          <a:xfrm>
            <a:off x="966592" y="617397"/>
            <a:ext cx="4177550" cy="3999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000" b="0" i="0" baseline="0">
                <a:solidFill>
                  <a:schemeClr val="tx1"/>
                </a:solidFill>
                <a:latin typeface="Arial"/>
              </a:rPr>
              <a:t>4bit 병렬입력 병렬출력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1265"/>
          <p:cNvSpPr txBox="1"/>
          <p:nvPr/>
        </p:nvSpPr>
        <p:spPr>
          <a:xfrm>
            <a:off x="0" y="0"/>
            <a:ext cx="9135988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11267" name="그림 11266" descr="EMB000061641370"/>
          <p:cNvPicPr/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390465" y="651992"/>
            <a:ext cx="8355132" cy="55460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1"/>
          <p:cNvSpPr/>
          <p:nvPr/>
        </p:nvSpPr>
        <p:spPr>
          <a:xfrm>
            <a:off x="1254789" y="425004"/>
            <a:ext cx="5598449" cy="6231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register4withload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#(parameter N= 4) 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</a:t>
            </a:r>
            <a:r>
              <a:rPr kumimoji="1" lang="ko-KR" altLang="en-US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</a:t>
            </a: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load,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clk.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[N-1: 0] I,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[N-1: 0] Q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reg [N-1:0] Q_reg, Q_next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always@(poosedge clk)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 &lt;= Q_next;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always@(I, load)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if(load)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 = I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 = Q_reg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Q = Q_reg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1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200" b="1" i="0" u="none" strike="noStrike" kern="0" cap="none" spc="0" normalizeH="0" baseline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7090" y="519345"/>
            <a:ext cx="7920534" cy="502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 / 1ps</a:t>
            </a:r>
          </a:p>
          <a:p>
            <a:pPr>
              <a:defRPr/>
            </a:pPr>
            <a:r>
              <a:rPr lang="en-US"/>
              <a:t>module register_with_load_tb;</a:t>
            </a:r>
          </a:p>
          <a:p>
            <a:pPr>
              <a:defRPr/>
            </a:pPr>
            <a:r>
              <a:rPr lang="en-US"/>
              <a:t>parameter N = 4;</a:t>
            </a:r>
          </a:p>
          <a:p>
            <a:pPr>
              <a:defRPr/>
            </a:pPr>
            <a:r>
              <a:rPr lang="en-US"/>
              <a:t>reg clk;</a:t>
            </a:r>
          </a:p>
          <a:p>
            <a:pPr>
              <a:defRPr/>
            </a:pPr>
            <a:r>
              <a:rPr lang="en-US"/>
              <a:t>reg load;</a:t>
            </a:r>
          </a:p>
          <a:p>
            <a:pPr>
              <a:defRPr/>
            </a:pPr>
            <a:r>
              <a:rPr lang="en-US"/>
              <a:t>reg [N-1:0] I;</a:t>
            </a:r>
          </a:p>
          <a:p>
            <a:pPr>
              <a:defRPr/>
            </a:pPr>
            <a:r>
              <a:rPr lang="en-US"/>
              <a:t>wire [N-1:0] Q;</a:t>
            </a:r>
          </a:p>
          <a:p>
            <a:pPr>
              <a:defRPr/>
            </a:pPr>
            <a:r>
              <a:rPr lang="en-US"/>
              <a:t>register_with_load #(N) dut (</a:t>
            </a:r>
          </a:p>
          <a:p>
            <a:pPr>
              <a:defRPr/>
            </a:pPr>
            <a:r>
              <a:rPr lang="en-US"/>
              <a:t>    .clk(clk),</a:t>
            </a:r>
          </a:p>
          <a:p>
            <a:pPr>
              <a:defRPr/>
            </a:pPr>
            <a:r>
              <a:rPr lang="en-US"/>
              <a:t>    .load(load),</a:t>
            </a:r>
          </a:p>
          <a:p>
            <a:pPr>
              <a:defRPr/>
            </a:pPr>
            <a:r>
              <a:rPr lang="en-US"/>
              <a:t>    .I(I),</a:t>
            </a:r>
          </a:p>
          <a:p>
            <a:pPr>
              <a:defRPr/>
            </a:pPr>
            <a:r>
              <a:rPr lang="en-US"/>
              <a:t>    .Q(Q)</a:t>
            </a:r>
          </a:p>
          <a:p>
            <a:pPr>
              <a:defRPr/>
            </a:pPr>
            <a:r>
              <a:rPr lang="en-US"/>
              <a:t>);</a:t>
            </a:r>
          </a:p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   clk = 0;</a:t>
            </a:r>
          </a:p>
          <a:p>
            <a:pPr>
              <a:defRPr/>
            </a:pPr>
            <a:r>
              <a:rPr lang="en-US"/>
              <a:t>    forever #5 clk = ~clk;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4654" y="1186537"/>
            <a:ext cx="7346754" cy="447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i</a:t>
            </a:r>
            <a:r>
              <a:rPr lang="en-US"/>
              <a:t>nitial begin</a:t>
            </a:r>
          </a:p>
          <a:p>
            <a:pPr>
              <a:defRPr/>
            </a:pPr>
            <a:r>
              <a:rPr lang="en-US"/>
              <a:t>    load = 0;</a:t>
            </a:r>
          </a:p>
          <a:p>
            <a:pPr>
              <a:defRPr/>
            </a:pPr>
            <a:r>
              <a:rPr lang="en-US"/>
              <a:t>    I = 4'b0000;</a:t>
            </a:r>
          </a:p>
          <a:p>
            <a:pPr>
              <a:defRPr/>
            </a:pPr>
            <a:r>
              <a:rPr lang="en-US"/>
              <a:t>    $monitor("Time=%0t | load=%b I=%b Q=%b", $time, load, I, Q);</a:t>
            </a:r>
          </a:p>
          <a:p>
            <a:pPr>
              <a:defRPr/>
            </a:pPr>
            <a:r>
              <a:rPr lang="en-US"/>
              <a:t>    #10;</a:t>
            </a:r>
            <a:r>
              <a:rPr lang="en-US" altLang="ko-KR"/>
              <a:t>  </a:t>
            </a:r>
            <a:r>
              <a:rPr lang="en-US"/>
              <a:t>    I = 4'b1010;</a:t>
            </a:r>
          </a:p>
          <a:p>
            <a:pPr>
              <a:defRPr/>
            </a:pPr>
            <a:r>
              <a:rPr lang="en-US"/>
              <a:t>    #10;</a:t>
            </a:r>
            <a:r>
              <a:rPr lang="en-US" altLang="ko-KR"/>
              <a:t>  </a:t>
            </a:r>
            <a:r>
              <a:rPr lang="en-US"/>
              <a:t>    I = 4'b1111;</a:t>
            </a:r>
          </a:p>
          <a:p>
            <a:pPr>
              <a:defRPr/>
            </a:pPr>
            <a:r>
              <a:rPr lang="en-US"/>
              <a:t>    #10;</a:t>
            </a:r>
            <a:r>
              <a:rPr lang="en-US" altLang="ko-KR"/>
              <a:t>  </a:t>
            </a:r>
            <a:r>
              <a:rPr lang="en-US"/>
              <a:t>    load = 1;</a:t>
            </a:r>
          </a:p>
          <a:p>
            <a:pPr>
              <a:defRPr/>
            </a:pPr>
            <a:r>
              <a:rPr lang="en-US"/>
              <a:t>    I = 4'b1100;</a:t>
            </a:r>
          </a:p>
          <a:p>
            <a:pPr>
              <a:defRPr/>
            </a:pPr>
            <a:r>
              <a:rPr lang="en-US"/>
              <a:t>    #10;</a:t>
            </a:r>
            <a:r>
              <a:rPr lang="en-US" altLang="ko-KR"/>
              <a:t>  </a:t>
            </a:r>
            <a:r>
              <a:rPr lang="en-US"/>
              <a:t>    I = 4'b0011;</a:t>
            </a:r>
          </a:p>
          <a:p>
            <a:pPr>
              <a:defRPr/>
            </a:pPr>
            <a:r>
              <a:rPr lang="en-US"/>
              <a:t>    #10;</a:t>
            </a:r>
            <a:r>
              <a:rPr lang="en-US" altLang="ko-KR"/>
              <a:t>  </a:t>
            </a:r>
            <a:r>
              <a:rPr lang="en-US"/>
              <a:t>    load = 0;</a:t>
            </a:r>
            <a:r>
              <a:rPr lang="en-US" altLang="ko-KR"/>
              <a:t>   </a:t>
            </a:r>
            <a:r>
              <a:rPr lang="en-US"/>
              <a:t>    I = 4'b0101;</a:t>
            </a:r>
          </a:p>
          <a:p>
            <a:pPr>
              <a:defRPr/>
            </a:pPr>
            <a:r>
              <a:rPr lang="en-US"/>
              <a:t>    #20;</a:t>
            </a:r>
            <a:r>
              <a:rPr lang="en-US" altLang="ko-KR"/>
              <a:t>     </a:t>
            </a:r>
            <a:r>
              <a:rPr lang="en-US"/>
              <a:t> load = 1;</a:t>
            </a:r>
            <a:r>
              <a:rPr lang="en-US" altLang="ko-KR"/>
              <a:t>   </a:t>
            </a:r>
            <a:r>
              <a:rPr lang="en-US"/>
              <a:t>    I = 4'b1110;</a:t>
            </a:r>
          </a:p>
          <a:p>
            <a:pPr>
              <a:defRPr/>
            </a:pPr>
            <a:r>
              <a:rPr lang="en-US"/>
              <a:t>    #10;</a:t>
            </a:r>
          </a:p>
          <a:p>
            <a:pPr>
              <a:defRPr/>
            </a:pPr>
            <a:r>
              <a:rPr lang="en-US"/>
              <a:t>    #20;     $finish;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endmodule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3313"/>
          <p:cNvSpPr txBox="1"/>
          <p:nvPr/>
        </p:nvSpPr>
        <p:spPr>
          <a:xfrm>
            <a:off x="319052" y="544388"/>
            <a:ext cx="5545694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직렬입력 직렬출력 레지스터</a:t>
            </a:r>
          </a:p>
        </p:txBody>
      </p:sp>
      <p:pic>
        <p:nvPicPr>
          <p:cNvPr id="13315" name="그림 13314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246411" y="1264221"/>
            <a:ext cx="8715266" cy="49698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4337"/>
          <p:cNvSpPr txBox="1"/>
          <p:nvPr/>
        </p:nvSpPr>
        <p:spPr>
          <a:xfrm>
            <a:off x="1326894" y="1120592"/>
            <a:ext cx="4567994" cy="42775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module siso(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input  CLK, CLRN,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output  DIN, Q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);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reg [3:0] BUFF;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@(negedge CLRN or posedge CLK)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if (CLRN == 1'b0) BUFF = 4'b0000;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BUFF[3:1] = BUFF[2:0];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BUFF[0] = DIN;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assign Q = BUFF[3] ;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14339" name="TextBox 14338"/>
          <p:cNvSpPr txBox="1"/>
          <p:nvPr/>
        </p:nvSpPr>
        <p:spPr>
          <a:xfrm>
            <a:off x="1326894" y="688844"/>
            <a:ext cx="3601402" cy="3698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직렬입력직렬출력</a:t>
            </a:r>
            <a:r>
              <a:rPr kumimoji="1" lang="en-US" altLang="ko-KR" sz="1800" b="0" i="0" baseline="0">
                <a:solidFill>
                  <a:schemeClr val="tx1"/>
                </a:solidFill>
                <a:latin typeface="Arial"/>
              </a:rPr>
              <a:t>(</a:t>
            </a: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좌쉬프트</a:t>
            </a:r>
            <a:r>
              <a:rPr kumimoji="1" lang="en-US" altLang="ko-KR" sz="1800" b="0" i="0" baseline="0">
                <a:solidFill>
                  <a:schemeClr val="tx1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5361"/>
          <p:cNvSpPr txBox="1"/>
          <p:nvPr/>
        </p:nvSpPr>
        <p:spPr>
          <a:xfrm>
            <a:off x="319052" y="688844"/>
            <a:ext cx="5040936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병렬입력 직렬출력 레지스터</a:t>
            </a:r>
          </a:p>
        </p:txBody>
      </p:sp>
      <p:pic>
        <p:nvPicPr>
          <p:cNvPr id="15363" name="그림 1536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3251" y="1264376"/>
            <a:ext cx="7049483" cy="51139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90426" y="1264221"/>
            <a:ext cx="7706928" cy="40464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module </a:t>
            </a:r>
            <a:r>
              <a:rPr lang="ko-KR" altLang="en-US" sz="2000">
                <a:solidFill>
                  <a:srgbClr val="000000"/>
                </a:solidFill>
                <a:ea typeface="굴림"/>
              </a:rPr>
              <a:t> </a:t>
            </a:r>
            <a:r>
              <a:rPr lang="en-US" altLang="ko-KR" sz="2000">
                <a:solidFill>
                  <a:srgbClr val="000000"/>
                </a:solidFill>
                <a:ea typeface="굴림"/>
              </a:rPr>
              <a:t>piso</a:t>
            </a:r>
            <a:r>
              <a:rPr sz="2000">
                <a:solidFill>
                  <a:srgbClr val="000000"/>
                </a:solidFill>
                <a:ea typeface="굴림"/>
              </a:rPr>
              <a:t>4(CLK, SH_LDN,D, Q);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input CLK, SH_LDN;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input [3:0] D;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output Q;reg [3:0] BUFF;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wire Q;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always @(negedge SH_LDN or posedge CLK)begin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if (~SH_LDN)BUFF = D;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else</a:t>
            </a:r>
            <a:r>
              <a:rPr lang="ko-KR" altLang="en-US" sz="2000">
                <a:solidFill>
                  <a:srgbClr val="000000"/>
                </a:solidFill>
                <a:ea typeface="굴림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begin</a:t>
            </a:r>
            <a:r>
              <a:rPr lang="ko-KR" altLang="en-US" sz="2000">
                <a:solidFill>
                  <a:srgbClr val="000000"/>
                </a:solidFill>
                <a:ea typeface="굴림"/>
              </a:rPr>
              <a:t> </a:t>
            </a:r>
            <a:r>
              <a:rPr sz="2000">
                <a:solidFill>
                  <a:srgbClr val="000000"/>
                </a:solidFill>
                <a:ea typeface="굴림"/>
              </a:rPr>
              <a:t>BUFF[3:1] = BUFF[2:0];BUFF[0] = 1'b0;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end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end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assign Q = BUFF[3]</a:t>
            </a:r>
            <a:r>
              <a:rPr lang="en-US" altLang="ko-KR" sz="2000">
                <a:solidFill>
                  <a:srgbClr val="000000"/>
                </a:solidFill>
                <a:ea typeface="굴림"/>
              </a:rPr>
              <a:t>;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2000">
                <a:solidFill>
                  <a:srgbClr val="000000"/>
                </a:solidFill>
                <a:ea typeface="굴림"/>
              </a:rPr>
              <a:t>endmodule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401" y="688160"/>
            <a:ext cx="6194321" cy="36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병렬입력직렬출력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56157" y="471924"/>
            <a:ext cx="7729305" cy="3650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 / 1ps</a:t>
            </a:r>
          </a:p>
          <a:p>
            <a:pPr>
              <a:defRPr/>
            </a:pPr>
            <a:r>
              <a:rPr lang="en-US"/>
              <a:t>module piso4_tb;</a:t>
            </a:r>
          </a:p>
          <a:p>
            <a:pPr>
              <a:defRPr/>
            </a:pPr>
            <a:r>
              <a:rPr lang="en-US"/>
              <a:t>reg CLK;</a:t>
            </a:r>
          </a:p>
          <a:p>
            <a:pPr>
              <a:defRPr/>
            </a:pPr>
            <a:r>
              <a:rPr lang="en-US"/>
              <a:t>reg SH_LDN;</a:t>
            </a:r>
          </a:p>
          <a:p>
            <a:pPr>
              <a:defRPr/>
            </a:pPr>
            <a:r>
              <a:rPr lang="en-US"/>
              <a:t>reg [3:0] D;</a:t>
            </a:r>
          </a:p>
          <a:p>
            <a:pPr>
              <a:defRPr/>
            </a:pPr>
            <a:r>
              <a:rPr lang="en-US"/>
              <a:t>wire Q;</a:t>
            </a:r>
          </a:p>
          <a:p>
            <a:pPr>
              <a:defRPr/>
            </a:pPr>
            <a:r>
              <a:rPr lang="en-US"/>
              <a:t>piso dut (</a:t>
            </a:r>
          </a:p>
          <a:p>
            <a:pPr>
              <a:defRPr/>
            </a:pPr>
            <a:r>
              <a:rPr lang="en-US"/>
              <a:t>    .CLK(CLK),</a:t>
            </a:r>
          </a:p>
          <a:p>
            <a:pPr>
              <a:defRPr/>
            </a:pPr>
            <a:r>
              <a:rPr lang="en-US"/>
              <a:t>    .SH_LDN(SH_LDN),</a:t>
            </a:r>
          </a:p>
          <a:p>
            <a:pPr>
              <a:defRPr/>
            </a:pPr>
            <a:r>
              <a:rPr lang="en-US"/>
              <a:t>    .D(D),</a:t>
            </a:r>
          </a:p>
          <a:p>
            <a:pPr>
              <a:defRPr/>
            </a:pPr>
            <a:r>
              <a:rPr lang="en-US"/>
              <a:t>    .Q(Q)  );</a:t>
            </a:r>
          </a:p>
          <a:p>
            <a:pPr>
              <a:defRPr/>
            </a:pPr>
            <a:r>
              <a:rPr lang="en-US"/>
              <a:t>always #5 CLK = ~CLK;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54789" y="1188482"/>
            <a:ext cx="6266350" cy="4200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   // 초기값</a:t>
            </a:r>
          </a:p>
          <a:p>
            <a:pPr>
              <a:defRPr/>
            </a:pPr>
            <a:r>
              <a:rPr lang="en-US"/>
              <a:t>    CLK = 0;</a:t>
            </a:r>
          </a:p>
          <a:p>
            <a:pPr>
              <a:defRPr/>
            </a:pPr>
            <a:r>
              <a:rPr lang="en-US"/>
              <a:t>    SH_LDN = 1;   // 기본은 shift 상태</a:t>
            </a:r>
          </a:p>
          <a:p>
            <a:pPr>
              <a:defRPr/>
            </a:pPr>
            <a:r>
              <a:rPr lang="en-US"/>
              <a:t>    D = 4'b0000;</a:t>
            </a:r>
          </a:p>
          <a:p>
            <a:pPr>
              <a:defRPr/>
            </a:pPr>
            <a:r>
              <a:rPr lang="en-US"/>
              <a:t>    #3  D = 4'b1101;</a:t>
            </a:r>
          </a:p>
          <a:p>
            <a:pPr>
              <a:defRPr/>
            </a:pPr>
            <a:r>
              <a:rPr lang="en-US"/>
              <a:t>        SH_LDN = 0;   // load 시작 (negedge 유도)</a:t>
            </a:r>
          </a:p>
          <a:p>
            <a:pPr>
              <a:defRPr/>
            </a:pPr>
            <a:r>
              <a:rPr lang="en-US"/>
              <a:t>    #2  SH_LDN = 1;   // 다시 shift 모드</a:t>
            </a:r>
          </a:p>
          <a:p>
            <a:pPr>
              <a:defRPr/>
            </a:pPr>
            <a:r>
              <a:rPr lang="en-US"/>
              <a:t>    #40;</a:t>
            </a:r>
          </a:p>
          <a:p>
            <a:pPr>
              <a:defRPr/>
            </a:pPr>
            <a:r>
              <a:rPr lang="en-US"/>
              <a:t>    #3  D = 4'b1010;</a:t>
            </a:r>
          </a:p>
          <a:p>
            <a:pPr>
              <a:defRPr/>
            </a:pPr>
            <a:r>
              <a:rPr lang="en-US"/>
              <a:t>        SH_LDN = 0;</a:t>
            </a:r>
          </a:p>
          <a:p>
            <a:pPr>
              <a:defRPr/>
            </a:pPr>
            <a:r>
              <a:rPr lang="en-US"/>
              <a:t>    #2  SH_LDN = 1;</a:t>
            </a:r>
          </a:p>
          <a:p>
            <a:pPr>
              <a:defRPr/>
            </a:pPr>
            <a:r>
              <a:rPr lang="en-US"/>
              <a:t>    #40;     $finish;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endmodule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385"/>
          <p:cNvSpPr txBox="1"/>
          <p:nvPr/>
        </p:nvSpPr>
        <p:spPr>
          <a:xfrm>
            <a:off x="319052" y="617397"/>
            <a:ext cx="4393397" cy="4603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</a:rPr>
              <a:t>직렬입력 병렬출력 레지스터</a:t>
            </a:r>
          </a:p>
        </p:txBody>
      </p:sp>
      <p:pic>
        <p:nvPicPr>
          <p:cNvPr id="16387" name="그림 16386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318439" y="976113"/>
            <a:ext cx="8283105" cy="54020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직사각형 1"/>
          <p:cNvSpPr/>
          <p:nvPr/>
        </p:nvSpPr>
        <p:spPr>
          <a:xfrm>
            <a:off x="2284413" y="1015935"/>
            <a:ext cx="4568825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sipo(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CLK, RESETN,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DATA_IN,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reg [3:0] Q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 @( negedge RESETN or posedge CLK)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 (RESETN)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 = 4'b0000;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Q[2:0] = Q[3:1];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Q[3] = DATA_IN;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200" b="0" i="0" u="none" strike="noStrike" kern="0" cap="none" spc="0" normalizeH="0" baseline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8433"/>
          <p:cNvSpPr txBox="1"/>
          <p:nvPr/>
        </p:nvSpPr>
        <p:spPr>
          <a:xfrm>
            <a:off x="247606" y="544388"/>
            <a:ext cx="3383937" cy="277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비동기식 카운터</a:t>
            </a:r>
          </a:p>
        </p:txBody>
      </p:sp>
      <p:pic>
        <p:nvPicPr>
          <p:cNvPr id="18435" name="그림 18434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966592" y="2128433"/>
            <a:ext cx="6769493" cy="20062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9457"/>
          <p:cNvSpPr txBox="1"/>
          <p:nvPr/>
        </p:nvSpPr>
        <p:spPr>
          <a:xfrm>
            <a:off x="1039601" y="847589"/>
            <a:ext cx="5812390" cy="54774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module asyncount 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input  CLK,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output reg [2:0]  Q    );</a:t>
            </a:r>
          </a:p>
          <a:p>
            <a:pPr marL="0" lvl="0" indent="0" algn="l" rtl="0" eaLnBrk="0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@(negedge CLK)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(Q[0] == 1'b0 )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Q[0] = 1'b1;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	Q[0] = 1'b0;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4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@(negedge Q[0])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(Q[1] == 1'b0 )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Q[1] = 1'b1;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Q[1] = 1'b0;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4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@(negedge Q[1])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(Q[2] == 1'b0 )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Q[2] = 1'b1;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Q[2] = 1'b0;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19459" name="TextBox 19458"/>
          <p:cNvSpPr txBox="1"/>
          <p:nvPr/>
        </p:nvSpPr>
        <p:spPr>
          <a:xfrm>
            <a:off x="1111047" y="544388"/>
            <a:ext cx="3312490" cy="277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</a:rPr>
              <a:t>비동기식 카운터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20481"/>
          <p:cNvSpPr txBox="1"/>
          <p:nvPr/>
        </p:nvSpPr>
        <p:spPr>
          <a:xfrm>
            <a:off x="174597" y="617397"/>
            <a:ext cx="2953807" cy="2761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동기식 카운터</a:t>
            </a:r>
          </a:p>
        </p:txBody>
      </p:sp>
      <p:pic>
        <p:nvPicPr>
          <p:cNvPr id="20483" name="그림 20482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326894" y="1912587"/>
            <a:ext cx="6482200" cy="230303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21505"/>
          <p:cNvSpPr txBox="1"/>
          <p:nvPr/>
        </p:nvSpPr>
        <p:spPr>
          <a:xfrm>
            <a:off x="1184057" y="1193601"/>
            <a:ext cx="4567994" cy="3928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module synccount(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input  RESETN, CLK,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output reg [2:0]  Q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);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@(posedge RESETN or negedge CLK)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(RESETN) Q = 3'b000;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 if (Q &gt;= 3'b111 ) Q = 3'b000;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 Q = Q + 1;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4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21507" name="TextBox 21506"/>
          <p:cNvSpPr txBox="1"/>
          <p:nvPr/>
        </p:nvSpPr>
        <p:spPr>
          <a:xfrm>
            <a:off x="1111047" y="617397"/>
            <a:ext cx="3096644" cy="2761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</a:rPr>
              <a:t>동기식카운터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26625"/>
          <p:cNvSpPr txBox="1"/>
          <p:nvPr/>
        </p:nvSpPr>
        <p:spPr>
          <a:xfrm>
            <a:off x="1615805" y="1671344"/>
            <a:ext cx="9135933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26627" name="그림 26626" descr="EMB000061641373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750601" y="1120168"/>
            <a:ext cx="7634862" cy="51139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직사각형 1"/>
          <p:cNvSpPr/>
          <p:nvPr/>
        </p:nvSpPr>
        <p:spPr>
          <a:xfrm>
            <a:off x="823525" y="544825"/>
            <a:ext cx="7274525" cy="575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paralaccess_register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#(parameter N= 4) 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clk. input SI, input [N-1:0] I, input load, input reset_n, output [N-1:0] Q,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SO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reg [N-1:0] Q_reg, Q_next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always@(poosedge clk, negedge reset_n)begin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if(!reset_n)   Q_reg &lt;= 1’b0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	Q_reg &lt;= Q_next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always@(SI , Q_reg)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if(load) 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Q_next = I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	Q_next = {SI, O_reg[N-1:1]};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SO = Q_reg[0]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Q = Q_reg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400" b="0" i="0" u="none" strike="noStrike" kern="0" cap="none" spc="0" normalizeH="0" baseline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4655" y="832059"/>
            <a:ext cx="7058646" cy="55460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056" y="615978"/>
            <a:ext cx="8743950" cy="640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 / 1ps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module serialadder(</a:t>
            </a:r>
          </a:p>
          <a:p>
            <a:pPr>
              <a:defRPr/>
            </a:pPr>
            <a:r>
              <a:rPr lang="en-US"/>
              <a:t>    input  clk,rstb,load, [7:0] a, b,</a:t>
            </a:r>
          </a:p>
          <a:p>
            <a:pPr>
              <a:defRPr/>
            </a:pPr>
            <a:r>
              <a:rPr lang="en-US"/>
              <a:t>    output [7:0] sum</a:t>
            </a:r>
          </a:p>
          <a:p>
            <a:pPr>
              <a:defRPr/>
            </a:pPr>
            <a:r>
              <a:rPr lang="en-US"/>
              <a:t>   );</a:t>
            </a:r>
          </a:p>
          <a:p>
            <a:pPr>
              <a:defRPr/>
            </a:pPr>
            <a:r>
              <a:rPr lang="en-US"/>
              <a:t>   wire [7:0] b_in;</a:t>
            </a:r>
          </a:p>
          <a:p>
            <a:pPr>
              <a:defRPr/>
            </a:pPr>
            <a:r>
              <a:rPr lang="en-US"/>
              <a:t> parallel8shift dut1(.clk(clk), .rstb(rstb), .sin(sum_1bit), .din(a), .pout(sum), .load(load));</a:t>
            </a:r>
          </a:p>
          <a:p>
            <a:pPr>
              <a:defRPr/>
            </a:pPr>
            <a:r>
              <a:rPr lang="en-US"/>
              <a:t> parallel8shift dut2(.clk(clk), .rstb(rstb), .sin(1'b0), .din(b), .pout(b_in), .load(load));  </a:t>
            </a:r>
          </a:p>
          <a:p>
            <a:pPr>
              <a:defRPr/>
            </a:pPr>
            <a:r>
              <a:rPr lang="en-US"/>
              <a:t> register_1     dut3(.clk(clk), .rstb(rstb), .din(cout), .dout(cin));  </a:t>
            </a:r>
          </a:p>
          <a:p>
            <a:pPr>
              <a:defRPr/>
            </a:pPr>
            <a:r>
              <a:rPr lang="en-US"/>
              <a:t> full_adder     dut4(.a(sum[0]), .b(b_in[0]), .cin(cin), .cout(cout), .s(sum_1bit));  </a:t>
            </a:r>
          </a:p>
          <a:p>
            <a:pPr>
              <a:defRPr/>
            </a:pPr>
            <a:r>
              <a:rPr lang="en-US"/>
              <a:t> endmodule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    </a:t>
            </a:r>
          </a:p>
          <a:p>
            <a:pPr>
              <a:defRPr/>
            </a:pPr>
            <a:r>
              <a:rPr lang="en-US"/>
              <a:t>    </a:t>
            </a:r>
          </a:p>
          <a:p>
            <a:pPr>
              <a:defRPr/>
            </a:pPr>
            <a:r>
              <a:rPr lang="en-US"/>
              <a:t>    </a:t>
            </a:r>
          </a:p>
          <a:p>
            <a:pPr>
              <a:defRPr/>
            </a:pPr>
            <a:r>
              <a:rPr lang="en-US"/>
              <a:t> </a:t>
            </a:r>
          </a:p>
          <a:p>
            <a:pPr>
              <a:defRPr/>
            </a:pPr>
            <a:r>
              <a:rPr lang="en-US"/>
              <a:t> </a:t>
            </a:r>
          </a:p>
          <a:p>
            <a:pPr>
              <a:defRPr/>
            </a:pPr>
            <a:r>
              <a:rPr lang="en-US"/>
              <a:t> </a:t>
            </a:r>
          </a:p>
          <a:p>
            <a:pPr>
              <a:defRPr/>
            </a:pPr>
            <a:r>
              <a:rPr lang="en-US"/>
              <a:t> </a:t>
            </a:r>
          </a:p>
          <a:p>
            <a:pPr>
              <a:defRPr/>
            </a:pPr>
            <a:r>
              <a:rPr lang="en-US"/>
              <a:t> </a:t>
            </a:r>
          </a:p>
          <a:p>
            <a:pPr>
              <a:defRPr/>
            </a:pPr>
            <a:r>
              <a:rPr lang="en-US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566" y="543951"/>
            <a:ext cx="6224653" cy="475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module parallel8shift(</a:t>
            </a:r>
          </a:p>
          <a:p>
            <a:pPr>
              <a:defRPr/>
            </a:pPr>
            <a:r>
              <a:rPr lang="en-US"/>
              <a:t>input clk, </a:t>
            </a:r>
          </a:p>
          <a:p>
            <a:pPr>
              <a:defRPr/>
            </a:pPr>
            <a:r>
              <a:rPr lang="en-US"/>
              <a:t>input rstb,</a:t>
            </a:r>
          </a:p>
          <a:p>
            <a:pPr>
              <a:defRPr/>
            </a:pPr>
            <a:r>
              <a:rPr lang="en-US"/>
              <a:t>input load ,</a:t>
            </a:r>
          </a:p>
          <a:p>
            <a:pPr>
              <a:defRPr/>
            </a:pPr>
            <a:r>
              <a:rPr lang="en-US"/>
              <a:t>input sin,</a:t>
            </a:r>
          </a:p>
          <a:p>
            <a:pPr>
              <a:defRPr/>
            </a:pPr>
            <a:r>
              <a:rPr lang="en-US"/>
              <a:t>input [7:0]din,</a:t>
            </a:r>
          </a:p>
          <a:p>
            <a:pPr>
              <a:defRPr/>
            </a:pPr>
            <a:r>
              <a:rPr lang="en-US"/>
              <a:t>output reg [7:0] pout    );</a:t>
            </a:r>
          </a:p>
          <a:p>
            <a:pPr>
              <a:defRPr/>
            </a:pPr>
            <a:r>
              <a:rPr lang="en-US"/>
              <a:t>always@(posedge clk or negedge rstb) begin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    if (!rstb) pout[7:0] &lt;= 8'b0;</a:t>
            </a:r>
          </a:p>
          <a:p>
            <a:pPr>
              <a:defRPr/>
            </a:pPr>
            <a:r>
              <a:rPr lang="en-US"/>
              <a:t>    else if(load) pout[7:0] &lt;= din[7:0];</a:t>
            </a:r>
          </a:p>
          <a:p>
            <a:pPr>
              <a:defRPr/>
            </a:pPr>
            <a:r>
              <a:rPr lang="en-US"/>
              <a:t>    else pout[7:0] &lt;= {sin, pout[7:1]};</a:t>
            </a:r>
          </a:p>
          <a:p>
            <a:pPr>
              <a:defRPr/>
            </a:pPr>
            <a:r>
              <a:rPr lang="en-US"/>
              <a:t>end </a:t>
            </a:r>
          </a:p>
          <a:p>
            <a:pPr>
              <a:defRPr/>
            </a:pPr>
            <a:r>
              <a:rPr lang="en-US"/>
              <a:t>endmodule</a:t>
            </a:r>
          </a:p>
          <a:p>
            <a:pPr>
              <a:defRPr/>
            </a:pPr>
            <a:r>
              <a:rPr lang="en-US"/>
              <a:t> </a:t>
            </a:r>
          </a:p>
          <a:p>
            <a:pPr>
              <a:defRPr/>
            </a:pPr>
            <a:r>
              <a:rPr lang="en-US"/>
              <a:t>     </a:t>
            </a: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4015" y="1186101"/>
            <a:ext cx="4568032" cy="447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module register_1(</a:t>
            </a:r>
          </a:p>
          <a:p>
            <a:pPr>
              <a:defRPr/>
            </a:pPr>
            <a:r>
              <a:rPr lang="en-US"/>
              <a:t>    input clk, rstb,</a:t>
            </a:r>
          </a:p>
          <a:p>
            <a:pPr>
              <a:defRPr/>
            </a:pPr>
            <a:r>
              <a:rPr lang="en-US"/>
              <a:t>    input din,</a:t>
            </a:r>
          </a:p>
          <a:p>
            <a:pPr>
              <a:defRPr/>
            </a:pPr>
            <a:r>
              <a:rPr lang="en-US"/>
              <a:t>    output reg dout);</a:t>
            </a:r>
          </a:p>
          <a:p>
            <a:pPr>
              <a:defRPr/>
            </a:pPr>
            <a:r>
              <a:rPr lang="en-US"/>
              <a:t>  always@(posedge clk, negedge rstb)</a:t>
            </a:r>
          </a:p>
          <a:p>
            <a:pPr>
              <a:defRPr/>
            </a:pPr>
            <a:r>
              <a:rPr lang="en-US"/>
              <a:t>  //  dout  &lt;= !rstb? 1'b0: din;</a:t>
            </a:r>
          </a:p>
          <a:p>
            <a:pPr>
              <a:defRPr/>
            </a:pPr>
            <a:r>
              <a:rPr lang="en-US"/>
              <a:t>  dout  &lt;=  din;</a:t>
            </a:r>
          </a:p>
          <a:p>
            <a:pPr>
              <a:defRPr/>
            </a:pPr>
            <a:r>
              <a:rPr lang="en-US"/>
              <a:t> endmodule     </a:t>
            </a:r>
          </a:p>
          <a:p>
            <a:pPr>
              <a:defRPr/>
            </a:pPr>
            <a:r>
              <a:rPr lang="en-US"/>
              <a:t> </a:t>
            </a:r>
          </a:p>
          <a:p>
            <a:pPr>
              <a:defRPr/>
            </a:pPr>
            <a:r>
              <a:rPr lang="en-US"/>
              <a:t> module full_adder(</a:t>
            </a:r>
          </a:p>
          <a:p>
            <a:pPr>
              <a:defRPr/>
            </a:pPr>
            <a:r>
              <a:rPr lang="en-US"/>
              <a:t> input a,b,cin,</a:t>
            </a:r>
          </a:p>
          <a:p>
            <a:pPr>
              <a:defRPr/>
            </a:pPr>
            <a:r>
              <a:rPr lang="en-US"/>
              <a:t> output s,cout);</a:t>
            </a:r>
          </a:p>
          <a:p>
            <a:pPr>
              <a:defRPr/>
            </a:pPr>
            <a:r>
              <a:rPr lang="en-US"/>
              <a:t> assign cout = a&amp;b | b&amp;cin | cin &amp;a;</a:t>
            </a:r>
          </a:p>
          <a:p>
            <a:pPr>
              <a:defRPr/>
            </a:pPr>
            <a:r>
              <a:rPr lang="en-US"/>
              <a:t> assign s = a^b^cin;</a:t>
            </a:r>
          </a:p>
          <a:p>
            <a:pPr>
              <a:defRPr/>
            </a:pPr>
            <a:r>
              <a:rPr lang="en-US"/>
              <a:t> endmodule </a:t>
            </a: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4654" y="452914"/>
            <a:ext cx="8046484" cy="6393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 / 1ps</a:t>
            </a:r>
          </a:p>
          <a:p>
            <a:pPr>
              <a:defRPr/>
            </a:pPr>
            <a:r>
              <a:rPr lang="en-US"/>
              <a:t>module serialadder_tb;</a:t>
            </a:r>
          </a:p>
          <a:p>
            <a:pPr>
              <a:defRPr/>
            </a:pPr>
            <a:r>
              <a:rPr lang="en-US"/>
              <a:t>  reg  clk, rstb, load;</a:t>
            </a:r>
          </a:p>
          <a:p>
            <a:pPr>
              <a:defRPr/>
            </a:pPr>
            <a:r>
              <a:rPr lang="en-US"/>
              <a:t>  reg  [7:0] a,b;</a:t>
            </a:r>
          </a:p>
          <a:p>
            <a:pPr>
              <a:defRPr/>
            </a:pPr>
            <a:r>
              <a:rPr lang="en-US"/>
              <a:t>  wire [7:0] sum;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serialadder dut( .clk(clk), .rstb(rstb), .load(load), .a(a), .b(b), .sum(sum));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initial clk = 0;</a:t>
            </a:r>
          </a:p>
          <a:p>
            <a:pPr>
              <a:defRPr/>
            </a:pPr>
            <a:r>
              <a:rPr lang="en-US"/>
              <a:t>always #5 clk = ~clk;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#0 a[7:0] = 8'h29; b[7:0] = 8'h35; rstb = 0; load = 0;</a:t>
            </a:r>
          </a:p>
          <a:p>
            <a:pPr>
              <a:defRPr/>
            </a:pPr>
            <a:r>
              <a:rPr lang="en-US"/>
              <a:t>#10 rstb = 1;</a:t>
            </a:r>
          </a:p>
          <a:p>
            <a:pPr>
              <a:defRPr/>
            </a:pPr>
            <a:r>
              <a:rPr lang="en-US"/>
              <a:t>#10 load = 1;</a:t>
            </a:r>
          </a:p>
          <a:p>
            <a:pPr>
              <a:defRPr/>
            </a:pPr>
            <a:r>
              <a:rPr lang="en-US"/>
              <a:t>#10 load =0;</a:t>
            </a:r>
          </a:p>
          <a:p>
            <a:pPr>
              <a:defRPr/>
            </a:pPr>
            <a:r>
              <a:rPr lang="en-US"/>
              <a:t>#100 load = 1; a=8'h03; b=8'h89;</a:t>
            </a:r>
          </a:p>
          <a:p>
            <a:pPr>
              <a:defRPr/>
            </a:pPr>
            <a:r>
              <a:rPr lang="en-US"/>
              <a:t>#10 load = 0 ;</a:t>
            </a:r>
          </a:p>
          <a:p>
            <a:pPr>
              <a:defRPr/>
            </a:pPr>
            <a:r>
              <a:rPr lang="en-US"/>
              <a:t>#200 $stop;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endmodule   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8673"/>
          <p:cNvSpPr txBox="1"/>
          <p:nvPr/>
        </p:nvSpPr>
        <p:spPr>
          <a:xfrm>
            <a:off x="0" y="0"/>
            <a:ext cx="10043861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28675" name="그림 28674" descr="EMB000061641371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0" y="457089"/>
            <a:ext cx="5936194" cy="34728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  <p:pic>
        <p:nvPicPr>
          <p:cNvPr id="28676" name="그림 28675"/>
          <p:cNvPicPr/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2987130" y="3955341"/>
            <a:ext cx="5486974" cy="2422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직사각형 1"/>
          <p:cNvSpPr/>
          <p:nvPr/>
        </p:nvSpPr>
        <p:spPr>
          <a:xfrm>
            <a:off x="967575" y="904950"/>
            <a:ext cx="6338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universal_register</a:t>
            </a:r>
            <a:endParaRPr kumimoji="1" lang="en-US" altLang="ko-KR" sz="1400" b="0" i="0" u="none" strike="noStrike" kern="0" cap="none" spc="0" normalizeH="0" baseline="0" dirty="0">
              <a:solidFill>
                <a:srgbClr val="000000"/>
              </a:solidFill>
              <a:effectLst/>
              <a:uLnTx/>
              <a:uFillTx/>
              <a:latin typeface="함초롬바탕"/>
              <a:ea typeface="함초롬바탕"/>
              <a:cs typeface="Arial"/>
            </a:endParaRP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#(parameter N= 4) (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clk.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reset_n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input [N-1:0] I, input [1:0] s,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[N-1:0] Q );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[N-1:0]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posedge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clk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negedge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reset_n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if(!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reset_n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&lt;= 1’b0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&lt;=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LSB_in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I) begin 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case(s)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2’b00: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2’b01: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{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[N-1:1]} 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2’b10: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{</a:t>
            </a:r>
            <a:r>
              <a:rPr kumimoji="1" lang="en-US" altLang="ko-KR" sz="1400" b="0" i="0" u="none" strike="noStrike" kern="0" cap="none" spc="0" normalizeH="0" baseline="0" dirty="0" err="1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[2:0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],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LSB_in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}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2’b11: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=I;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default 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endcase</a:t>
            </a:r>
            <a:endParaRPr kumimoji="1" lang="en-US" altLang="ko-KR" sz="1400" b="0" i="0" u="none" strike="noStrike" kern="0" cap="none" spc="0" normalizeH="0" baseline="0" dirty="0">
              <a:solidFill>
                <a:srgbClr val="000000"/>
              </a:solidFill>
              <a:effectLst/>
              <a:uLnTx/>
              <a:uFillTx/>
              <a:latin typeface="함초롬바탕"/>
              <a:ea typeface="함초롬바탕"/>
              <a:cs typeface="Arial"/>
            </a:endParaRP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Q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400" b="0" i="0" u="none" strike="noStrike" kern="0" cap="none" spc="0" normalizeH="0" baseline="0" dirty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Box 29698"/>
          <p:cNvSpPr txBox="1"/>
          <p:nvPr/>
        </p:nvSpPr>
        <p:spPr>
          <a:xfrm>
            <a:off x="1505744" y="539034"/>
            <a:ext cx="6951745" cy="6127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`timescale 1ns / 1ps</a:t>
            </a:r>
          </a:p>
          <a:p>
            <a:pPr>
              <a:defRPr/>
            </a:pPr>
            <a:r>
              <a:rPr lang="en-US"/>
              <a:t>module universal_tb ;</a:t>
            </a:r>
          </a:p>
          <a:p>
            <a:pPr>
              <a:defRPr/>
            </a:pPr>
            <a:r>
              <a:rPr lang="en-US"/>
              <a:t>reg clk, reset_n;</a:t>
            </a:r>
            <a:r>
              <a:rPr lang="ko-KR" altLang="en-US"/>
              <a:t>  </a:t>
            </a:r>
            <a:r>
              <a:rPr lang="en-US"/>
              <a:t>reg  [N-1:0] I;</a:t>
            </a:r>
          </a:p>
          <a:p>
            <a:pPr>
              <a:defRPr/>
            </a:pPr>
            <a:r>
              <a:rPr lang="en-US"/>
              <a:t>reg [1:0] s;</a:t>
            </a:r>
          </a:p>
          <a:p>
            <a:pPr>
              <a:defRPr/>
            </a:pPr>
            <a:r>
              <a:rPr lang="en-US"/>
              <a:t>reg  MSB_in, LSB_in;</a:t>
            </a:r>
          </a:p>
          <a:p>
            <a:pPr>
              <a:defRPr/>
            </a:pPr>
            <a:r>
              <a:rPr lang="en-US"/>
              <a:t>wire  [N-1:0] Q ;</a:t>
            </a:r>
          </a:p>
          <a:p>
            <a:pPr>
              <a:defRPr/>
            </a:pPr>
            <a:r>
              <a:rPr lang="en-US"/>
              <a:t>parameter N=4;</a:t>
            </a:r>
          </a:p>
          <a:p>
            <a:pPr>
              <a:defRPr/>
            </a:pPr>
            <a:r>
              <a:rPr lang="en-US"/>
              <a:t>universal_register dut(clk, reset_n, I, s, MSB_in, LSB_in, Q);</a:t>
            </a:r>
          </a:p>
          <a:p>
            <a:pPr>
              <a:defRPr/>
            </a:pPr>
            <a:r>
              <a:rPr lang="en-US"/>
              <a:t>initial begin </a:t>
            </a:r>
          </a:p>
          <a:p>
            <a:pPr>
              <a:defRPr/>
            </a:pPr>
            <a:r>
              <a:rPr lang="en-US"/>
              <a:t>clk = 0;</a:t>
            </a:r>
          </a:p>
          <a:p>
            <a:pPr>
              <a:defRPr/>
            </a:pPr>
            <a:r>
              <a:rPr lang="en-US"/>
              <a:t>repeat(40) #20 clk = ~clk;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reset_n = 1;</a:t>
            </a:r>
          </a:p>
          <a:p>
            <a:pPr>
              <a:defRPr/>
            </a:pPr>
            <a:r>
              <a:rPr lang="en-US"/>
              <a:t> #2  reset_n = 0;</a:t>
            </a:r>
          </a:p>
          <a:p>
            <a:pPr>
              <a:defRPr/>
            </a:pPr>
            <a:r>
              <a:rPr lang="en-US"/>
              <a:t> #2  reset_n = 1;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initial begin </a:t>
            </a:r>
          </a:p>
          <a:p>
            <a:pPr>
              <a:defRPr/>
            </a:pPr>
            <a:r>
              <a:rPr lang="en-US"/>
              <a:t>    I= 0111;</a:t>
            </a:r>
          </a:p>
          <a:p>
            <a:pPr>
              <a:defRPr/>
            </a:pPr>
            <a:r>
              <a:rPr lang="en-US"/>
              <a:t> #250   I= 1101 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TextBox 29699"/>
          <p:cNvSpPr txBox="1"/>
          <p:nvPr/>
        </p:nvSpPr>
        <p:spPr>
          <a:xfrm>
            <a:off x="2284015" y="1049496"/>
            <a:ext cx="4568032" cy="4751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#5 s= 2'b11;</a:t>
            </a:r>
          </a:p>
          <a:p>
            <a:pPr>
              <a:defRPr/>
            </a:pPr>
            <a:r>
              <a:rPr lang="en-US"/>
              <a:t>#40 s = 2'b01; </a:t>
            </a:r>
          </a:p>
          <a:p>
            <a:pPr>
              <a:defRPr/>
            </a:pPr>
            <a:r>
              <a:rPr lang="en-US"/>
              <a:t>#40 s = 2'b01;</a:t>
            </a:r>
          </a:p>
          <a:p>
            <a:pPr>
              <a:defRPr/>
            </a:pPr>
            <a:r>
              <a:rPr lang="en-US"/>
              <a:t>#40 s = 2'b01;</a:t>
            </a:r>
          </a:p>
          <a:p>
            <a:pPr>
              <a:defRPr/>
            </a:pPr>
            <a:r>
              <a:rPr lang="en-US"/>
              <a:t>#40 s = 2'b10;</a:t>
            </a:r>
          </a:p>
          <a:p>
            <a:pPr>
              <a:defRPr/>
            </a:pPr>
            <a:r>
              <a:rPr lang="en-US"/>
              <a:t>#40 s = 2'b10;</a:t>
            </a:r>
          </a:p>
          <a:p>
            <a:pPr>
              <a:defRPr/>
            </a:pPr>
            <a:r>
              <a:rPr lang="en-US"/>
              <a:t>#40 s = 2'b00;</a:t>
            </a:r>
          </a:p>
          <a:p>
            <a:pPr>
              <a:defRPr/>
            </a:pPr>
            <a:r>
              <a:rPr lang="en-US"/>
              <a:t>#40 s = 2'b10;</a:t>
            </a:r>
          </a:p>
          <a:p>
            <a:pPr>
              <a:defRPr/>
            </a:pPr>
            <a:r>
              <a:rPr lang="en-US"/>
              <a:t>#40 s = 2'b10;</a:t>
            </a:r>
          </a:p>
          <a:p>
            <a:pPr>
              <a:defRPr/>
            </a:pPr>
            <a:r>
              <a:rPr lang="en-US"/>
              <a:t>end</a:t>
            </a:r>
          </a:p>
          <a:p>
            <a:pPr>
              <a:defRPr/>
            </a:pPr>
            <a:r>
              <a:rPr lang="en-US"/>
              <a:t>initial begin</a:t>
            </a:r>
          </a:p>
          <a:p>
            <a:pPr>
              <a:defRPr/>
            </a:pPr>
            <a:r>
              <a:rPr lang="en-US"/>
              <a:t> MSB_in = 0;</a:t>
            </a:r>
          </a:p>
          <a:p>
            <a:pPr>
              <a:defRPr/>
            </a:pPr>
            <a:r>
              <a:rPr lang="en-US"/>
              <a:t> LSB_in = 0;</a:t>
            </a:r>
          </a:p>
          <a:p>
            <a:pPr>
              <a:defRPr/>
            </a:pPr>
            <a:r>
              <a:rPr lang="en-US"/>
              <a:t> end</a:t>
            </a:r>
          </a:p>
          <a:p>
            <a:pPr>
              <a:defRPr/>
            </a:pPr>
            <a:r>
              <a:rPr lang="en-US"/>
              <a:t>endmodule</a:t>
            </a: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22529"/>
          <p:cNvSpPr txBox="1"/>
          <p:nvPr/>
        </p:nvSpPr>
        <p:spPr>
          <a:xfrm>
            <a:off x="174597" y="617397"/>
            <a:ext cx="3888639" cy="2761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PIEZO</a:t>
            </a: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  <p:pic>
        <p:nvPicPr>
          <p:cNvPr id="22531" name="그림 22530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607908" y="1120592"/>
            <a:ext cx="5047299" cy="19046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  <p:sp>
        <p:nvSpPr>
          <p:cNvPr id="22532" name="TextBox 22531"/>
          <p:cNvSpPr txBox="1"/>
          <p:nvPr/>
        </p:nvSpPr>
        <p:spPr>
          <a:xfrm>
            <a:off x="534899" y="3137893"/>
            <a:ext cx="6121842" cy="33966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module HB_PIEZO( RESETN, CLK, PIEZO );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input RESETN, CLK; output PIEZO;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reg BUFF; integer CNT_SOUND;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wire PIEZO;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always @(posedge RESETN or posedge CLK)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if (RESETN) begin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	BUFF = 1'b0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	CNT_SOUND = 0;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else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if (CNT_SOUND &gt;= 1910)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24577"/>
          <p:cNvSpPr txBox="1"/>
          <p:nvPr/>
        </p:nvSpPr>
        <p:spPr>
          <a:xfrm>
            <a:off x="174597" y="544388"/>
            <a:ext cx="8642339" cy="65170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//도레미파솔라시도 출력 프로그램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module HB_PIANO (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RESETN, CLK, KEY, PIEZO );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input RESETN, CLK;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input [7:0] KEY;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output PIEZO;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reg BUFF;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reg [7:0] CNT_SOUND;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reg [7:0] LIMIT;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wire PIEZO;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always @(KEY)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case (KEY)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8'b10000000 : LIMIT = 1910; // DO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8'b01000000 : LIMIT = 1701; // RAE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8'b00100000 : LIMIT = 1516; // MI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8'b00010000 : LIMIT = 1431; // FA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8'b00001000 : LIMIT = 1275; // SOL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8'b00000100 : LIMIT = 1135; // RA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8'b00000010 : LIMIT = 1011; // SI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8'b00000001 : LIMIT = 955; // High DO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default : LIMIT = 0;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endcase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  <a:ea typeface="굴림"/>
            </a:endParaRP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  <a:ea typeface="굴림"/>
            </a:endParaRP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25601"/>
          <p:cNvSpPr txBox="1"/>
          <p:nvPr/>
        </p:nvSpPr>
        <p:spPr>
          <a:xfrm>
            <a:off x="174597" y="544388"/>
            <a:ext cx="8642339" cy="48378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always @(posedge CLK) 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if (RESETN)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BUFF = 1'b0;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CNT_SOUND = 0;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end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Else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begin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if (CNT_SOUND &gt;= LIMIT)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CNT_SOUND = 0;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BUFF = ~ BUFF;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end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Else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CNT_SOUND = CNT_SOUND + 1;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assign PIEZO = BUFF;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endmodule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내용 4개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빈 화면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빈 화면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2244</Words>
  <Application>Microsoft Office PowerPoint</Application>
  <PresentationFormat>사용자 지정</PresentationFormat>
  <Paragraphs>520</Paragraphs>
  <Slides>42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42</vt:i4>
      </vt:variant>
    </vt:vector>
  </HeadingPairs>
  <TitlesOfParts>
    <vt:vector size="51" baseType="lpstr">
      <vt:lpstr>Samsung</vt:lpstr>
      <vt:lpstr>굴림</vt:lpstr>
      <vt:lpstr>맑은 고딕</vt:lpstr>
      <vt:lpstr>함초롬바탕</vt:lpstr>
      <vt:lpstr>Arial</vt:lpstr>
      <vt:lpstr>Calibri</vt:lpstr>
      <vt:lpstr>Wingdings</vt:lpstr>
      <vt:lpstr>내용 4개</vt:lpstr>
      <vt:lpstr>빈 화면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 이론</dc:title>
  <dc:creator>간달프</dc:creator>
  <cp:lastModifiedBy>SAMSUNG</cp:lastModifiedBy>
  <cp:revision>58</cp:revision>
  <dcterms:created xsi:type="dcterms:W3CDTF">2005-07-04T10:37:59Z</dcterms:created>
  <dcterms:modified xsi:type="dcterms:W3CDTF">2026-04-02T00:57:45Z</dcterms:modified>
  <cp:version>1100.0100.01</cp:version>
</cp:coreProperties>
</file>