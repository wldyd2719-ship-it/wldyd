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8" r:id="rId1"/>
    <p:sldMasterId id="2147483749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9" r:id="rId22"/>
    <p:sldId id="280" r:id="rId23"/>
    <p:sldId id="283" r:id="rId24"/>
    <p:sldId id="281" r:id="rId25"/>
    <p:sldId id="282" r:id="rId26"/>
    <p:sldId id="275" r:id="rId27"/>
    <p:sldId id="277" r:id="rId28"/>
    <p:sldId id="278" r:id="rId29"/>
    <p:sldId id="284" r:id="rId30"/>
    <p:sldId id="285" r:id="rId31"/>
    <p:sldId id="286" r:id="rId32"/>
    <p:sldId id="287" r:id="rId33"/>
    <p:sldId id="288" r:id="rId34"/>
  </p:sldIdLst>
  <p:sldSz cx="9136063" cy="685006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>
        <a:alpha val="100000"/>
      </a:srgbClr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56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27" cy="7202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2460" y="685800"/>
            <a:ext cx="457308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6798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4126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55628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4642956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55526" y="6348852"/>
            <a:ext cx="2131615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2026-03-27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0478" y="6348852"/>
            <a:ext cx="2893468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01228" y="6390101"/>
            <a:ext cx="1980796" cy="457145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590833F9-B7D2-4749-AA22-91E32301AE5F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>
              <a:defRPr sz="1411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314" y="2130425"/>
            <a:ext cx="121920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2859322" y="2196090"/>
            <a:ext cx="6475199" cy="32400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6798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4126" y="1598420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55628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4642956" y="3979789"/>
            <a:ext cx="4035060" cy="219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55526" y="6348852"/>
            <a:ext cx="2131615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2026-03-27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0478" y="6348852"/>
            <a:ext cx="2893468" cy="365046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01228" y="6390101"/>
            <a:ext cx="1980796" cy="457145"/>
          </a:xfr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62444580-8764-4A76-B185-04EC2A6D56FF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>
              <a:defRPr sz="1411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314" y="2130425"/>
            <a:ext cx="121920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2859322" y="2196090"/>
            <a:ext cx="6475199" cy="32400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내용 4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ChangeArrowheads="1"/>
          </p:cNvSpPr>
          <p:nvPr/>
        </p:nvSpPr>
        <p:spPr>
          <a:xfrm>
            <a:off x="150813" y="37941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>
          <a:xfrm>
            <a:off x="150813" y="639286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30129" y="439674"/>
            <a:ext cx="8404277" cy="7872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2075" tIns="46038" rIns="92075" bIns="46038" anchor="ctr" anchorCtr="0">
            <a:prstTxWarp prst="textNoShape">
              <a:avLst/>
            </a:prstTxWarp>
            <a:noAutofit/>
          </a:bodyPr>
          <a:lstStyle/>
          <a:p>
            <a:pPr marL="0" lvl="0" indent="0" algn="ctr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4400" b="0" i="0" baseline="0">
                <a:solidFill>
                  <a:schemeClr val="tx2"/>
                </a:solidFill>
                <a:latin typeface="Arial"/>
                <a:sym typeface="Arial"/>
              </a:rPr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42566" y="3979119"/>
            <a:ext cx="4034713" cy="21951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마스터 텍스트 스타일을 편집합니다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둘째 수준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셋째 수준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넷째 수준</a:t>
            </a:r>
          </a:p>
          <a:p>
            <a:pPr marL="342945" lvl="0" indent="-342945" algn="l" rtl="0" eaLnBrk="0" latinLnBrk="1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sym typeface="Arial"/>
              </a:rPr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5526" y="6348852"/>
            <a:ext cx="2131615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422D86A-5F52-4165-8473-F1B836277586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2026-03-27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0478" y="6348852"/>
            <a:ext cx="2893468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01228" y="6390101"/>
            <a:ext cx="1980796" cy="4571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6ACFBB0D-5BD5-4181-B769-28EDB271B452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  <a:cs typeface="+mn-cs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/>
  <p:txStyles>
    <p:titleStyle>
      <a:lvl1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/>
        </a:defRPr>
      </a:lvl1pPr>
      <a:lvl2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2pPr>
      <a:lvl3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3pPr>
      <a:lvl4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4pPr>
      <a:lvl5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5pPr>
      <a:lvl6pPr marL="4572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6pPr>
      <a:lvl7pPr marL="9144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7pPr>
      <a:lvl8pPr marL="13716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8pPr>
      <a:lvl9pPr marL="18288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marL="16002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marL="20574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빈 화면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6798" y="274332"/>
            <a:ext cx="8222388" cy="11417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6798" y="1598420"/>
            <a:ext cx="8222388" cy="452092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2050" name="Rectangle 4"/>
          <p:cNvSpPr>
            <a:spLocks noChangeArrowheads="1"/>
          </p:cNvSpPr>
          <p:nvPr/>
        </p:nvSpPr>
        <p:spPr>
          <a:xfrm>
            <a:off x="150813" y="37941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2051" name="Rectangle 5"/>
          <p:cNvSpPr>
            <a:spLocks noChangeArrowheads="1"/>
          </p:cNvSpPr>
          <p:nvPr/>
        </p:nvSpPr>
        <p:spPr>
          <a:xfrm>
            <a:off x="150813" y="6392863"/>
            <a:ext cx="8990012" cy="74612"/>
          </a:xfrm>
          <a:prstGeom prst="rect">
            <a:avLst/>
          </a:prstGeom>
          <a:blipFill dpi="0" rotWithShape="0">
            <a:blip r:embed="rId14"/>
            <a:srcRect/>
            <a:stretch>
              <a:fillRect/>
            </a:stretch>
          </a:blipFill>
          <a:ln>
            <a:noFill/>
          </a:ln>
          <a:effectLst/>
        </p:spPr>
        <p:txBody>
          <a:bodyPr wrap="none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200" b="0" i="0" u="none" strike="noStrike" kern="1200" cap="none" spc="0" normalizeH="0" baseline="0">
              <a:solidFill>
                <a:schemeClr val="tx1"/>
              </a:solidFill>
              <a:effectLst/>
              <a:uLnTx/>
              <a:uFillTx/>
              <a:latin typeface="Arial"/>
              <a:ea typeface="굴림"/>
              <a:cs typeface="Arial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5526" y="6348852"/>
            <a:ext cx="2131615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422D86A-5F52-4165-8473-F1B836277586}" type="datetime1">
              <a: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  <a:cs typeface="+mn-cs"/>
              </a:rPr>
              <a:pPr marL="0" lvl="0" indent="0" algn="l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2026-03-27</a:t>
            </a:fld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0478" y="6348852"/>
            <a:ext cx="2893468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0" i="0" baseline="0">
                <a:solidFill>
                  <a:srgbClr val="000000">
                    <a:alpha val="100000"/>
                  </a:srgbClr>
                </a:solidFill>
                <a:latin typeface="Samsung"/>
                <a:ea typeface="굴림"/>
              </a:defRPr>
            </a:lvl1pPr>
          </a:lstStyle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800" b="0" i="0" baseline="0">
              <a:solidFill>
                <a:srgbClr val="000000">
                  <a:alpha val="100000"/>
                </a:srgbClr>
              </a:solidFill>
              <a:latin typeface="Samsung"/>
              <a:ea typeface="굴림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01228" y="6390101"/>
            <a:ext cx="1980796" cy="4571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b">
            <a:noAutofit/>
          </a:bodyPr>
          <a:lstStyle>
            <a:lvl1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defRPr>
            </a:lvl1pPr>
          </a:lstStyle>
          <a:p>
            <a:pPr marL="0" lvl="0" indent="0" algn="r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F6F39117-D202-44EA-876E-1DE6ECA28379}" type="slidenum">
              <a:rPr kumimoji="1" lang="ko-KR" altLang="en-US" sz="1400" b="1" i="0" baseline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  <a:cs typeface="+mn-cs"/>
              </a:rPr>
              <a:pPr marL="0" lvl="0" indent="0" algn="r" defTabSz="1028836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400" b="1" i="0" baseline="0">
              <a:solidFill>
                <a:srgbClr val="000000">
                  <a:alpha val="100000"/>
                </a:srgbClr>
              </a:solidFill>
              <a:latin typeface="Arial"/>
              <a:ea typeface="굴림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transition/>
  <p:txStyles>
    <p:titleStyle>
      <a:lvl1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/>
        </a:defRPr>
      </a:lvl1pPr>
      <a:lvl2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2pPr>
      <a:lvl3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3pPr>
      <a:lvl4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4pPr>
      <a:lvl5pPr algn="ctr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5pPr>
      <a:lvl6pPr marL="4572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6pPr>
      <a:lvl7pPr marL="9144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7pPr>
      <a:lvl8pPr marL="13716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8pPr>
      <a:lvl9pPr marL="182880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cs typeface="Arial"/>
          <a:sym typeface="Arial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marL="16002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marL="2057400" indent="-228600" algn="l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073"/>
          <p:cNvSpPr txBox="1"/>
          <p:nvPr/>
        </p:nvSpPr>
        <p:spPr>
          <a:xfrm>
            <a:off x="174597" y="544388"/>
            <a:ext cx="4825089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데이터의 저장과 전송</a:t>
            </a:r>
          </a:p>
        </p:txBody>
      </p:sp>
      <p:pic>
        <p:nvPicPr>
          <p:cNvPr id="3075" name="그림 3074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2815715" y="1425300"/>
            <a:ext cx="3504559" cy="39997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4097"/>
          <p:cNvSpPr txBox="1"/>
          <p:nvPr/>
        </p:nvSpPr>
        <p:spPr>
          <a:xfrm>
            <a:off x="1687196" y="1480894"/>
            <a:ext cx="4567994" cy="39076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module registertrans(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input DATA_IN, CLK1, CLK2,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output reg [3:0] A, B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);</a:t>
            </a:r>
          </a:p>
          <a:p>
            <a:pPr marL="0" lvl="0" indent="0" algn="l" rtl="0" eaLnBrk="0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@(posedge CLK1)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A &lt;= DATA_IN;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 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6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@(posedge CLK2)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 &lt;= A;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4099" name="TextBox 4098"/>
          <p:cNvSpPr txBox="1"/>
          <p:nvPr/>
        </p:nvSpPr>
        <p:spPr>
          <a:xfrm>
            <a:off x="1687196" y="760290"/>
            <a:ext cx="4609243" cy="6459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</a:rPr>
              <a:t>데이터의 저장과 전송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5121"/>
          <p:cNvSpPr txBox="1"/>
          <p:nvPr/>
        </p:nvSpPr>
        <p:spPr>
          <a:xfrm>
            <a:off x="392062" y="688844"/>
            <a:ext cx="4823526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4bit 쉬프트 레지스터</a:t>
            </a:r>
          </a:p>
        </p:txBody>
      </p:sp>
      <p:pic>
        <p:nvPicPr>
          <p:cNvPr id="5123" name="그림 5122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039601" y="2128433"/>
            <a:ext cx="7272632" cy="23776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6145"/>
          <p:cNvSpPr txBox="1"/>
          <p:nvPr/>
        </p:nvSpPr>
        <p:spPr>
          <a:xfrm>
            <a:off x="1399903" y="1120592"/>
            <a:ext cx="4567994" cy="52615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module shift4(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input   RESETN, DATA_IN, CLK,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output reg [3:0] Q      );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@(posedge RESETN or posedge CLK)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if (RESETN == 1'b1)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Q &lt;= 4'b0000;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Q[2:0] &lt;= Q[3:1];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Q[3] &lt;= DATA_IN;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6147" name="TextBox 6146"/>
          <p:cNvSpPr txBox="1"/>
          <p:nvPr/>
        </p:nvSpPr>
        <p:spPr>
          <a:xfrm>
            <a:off x="1399903" y="617397"/>
            <a:ext cx="4680690" cy="3682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4bit shiftregister</a:t>
            </a:r>
            <a:endParaRPr kumimoji="1" lang="ko-KR" altLang="en-US" sz="1800" b="0" i="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7169"/>
          <p:cNvSpPr txBox="1"/>
          <p:nvPr/>
        </p:nvSpPr>
        <p:spPr>
          <a:xfrm>
            <a:off x="463452" y="617397"/>
            <a:ext cx="4320388" cy="4603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병렬입력 병렬출력 레지스터</a:t>
            </a:r>
          </a:p>
        </p:txBody>
      </p:sp>
      <p:sp>
        <p:nvSpPr>
          <p:cNvPr id="7171" name="TextBox 7170"/>
          <p:cNvSpPr txBox="1"/>
          <p:nvPr/>
        </p:nvSpPr>
        <p:spPr>
          <a:xfrm>
            <a:off x="1326894" y="1457060"/>
            <a:ext cx="9135988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7172" name="그림 7171" descr="EMB00006164136f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326894" y="2057043"/>
            <a:ext cx="5399675" cy="35267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직사각형 1"/>
          <p:cNvSpPr/>
          <p:nvPr/>
        </p:nvSpPr>
        <p:spPr>
          <a:xfrm>
            <a:off x="967575" y="544825"/>
            <a:ext cx="4568825" cy="511524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simple_register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[N-1: 0] I,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[N-1: 0] Q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 [N-1:0] Q_reg, Q_next;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always@(poosedge clk)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 &lt;= Q_next;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always@(I)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 = I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200" b="0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9217"/>
          <p:cNvSpPr txBox="1"/>
          <p:nvPr/>
        </p:nvSpPr>
        <p:spPr>
          <a:xfrm>
            <a:off x="1111047" y="1264992"/>
            <a:ext cx="5740943" cy="42458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module pipo(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input  CLK, CLRN,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input [3:0] D,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output reg [3:0] Q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 );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always @(posedge CLRN or posedge CLK)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if (CLRN)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Q &lt;= 4'b0000;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Q &lt;= D;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9219" name="TextBox 9218"/>
          <p:cNvSpPr txBox="1"/>
          <p:nvPr/>
        </p:nvSpPr>
        <p:spPr>
          <a:xfrm>
            <a:off x="966592" y="617397"/>
            <a:ext cx="4177550" cy="3999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000" b="0" i="0" baseline="0">
                <a:solidFill>
                  <a:schemeClr val="tx1"/>
                </a:solidFill>
                <a:latin typeface="Arial"/>
              </a:rPr>
              <a:t>4bit 병렬입력 병렬출력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1265"/>
          <p:cNvSpPr txBox="1"/>
          <p:nvPr/>
        </p:nvSpPr>
        <p:spPr>
          <a:xfrm>
            <a:off x="0" y="0"/>
            <a:ext cx="9135988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11267" name="그림 11266" descr="EMB000061641370"/>
          <p:cNvPicPr/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1542740" y="1768131"/>
            <a:ext cx="6050452" cy="37585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1"/>
          <p:cNvSpPr/>
          <p:nvPr/>
        </p:nvSpPr>
        <p:spPr>
          <a:xfrm>
            <a:off x="2284413" y="425004"/>
            <a:ext cx="4568825" cy="62310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register4withload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</a:t>
            </a:r>
            <a:r>
              <a:rPr kumimoji="1" lang="ko-KR" altLang="en-US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</a:t>
            </a: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load,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[N-1: 0] I,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[N-1: 0] Q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 [N-1:0] Q_reg, Q_next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always@(poosedge clk)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 &lt;= Q_next;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always@(I, load)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if(load)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 = I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200" b="0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3313"/>
          <p:cNvSpPr txBox="1"/>
          <p:nvPr/>
        </p:nvSpPr>
        <p:spPr>
          <a:xfrm>
            <a:off x="319052" y="544388"/>
            <a:ext cx="5545694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직렬입력 직렬출력 레지스터</a:t>
            </a:r>
          </a:p>
        </p:txBody>
      </p:sp>
      <p:pic>
        <p:nvPicPr>
          <p:cNvPr id="13315" name="그림 13314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184057" y="1911024"/>
            <a:ext cx="7272576" cy="35299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4337"/>
          <p:cNvSpPr txBox="1"/>
          <p:nvPr/>
        </p:nvSpPr>
        <p:spPr>
          <a:xfrm>
            <a:off x="1326894" y="1120592"/>
            <a:ext cx="4567994" cy="42775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module siso(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input  CLK, CLRN,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output  DIN, Q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);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reg [3:0] BUFF;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 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always @(negedge CLRN or posedge CLK)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if (CLRN == 1'b0) BUFF = 4'b0000;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BUFF[3:1] = BUFF[2:0];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BUFF[0] = DIN;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assign Q = BUFF[3] ;  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14339" name="TextBox 14338"/>
          <p:cNvSpPr txBox="1"/>
          <p:nvPr/>
        </p:nvSpPr>
        <p:spPr>
          <a:xfrm>
            <a:off x="1326894" y="688844"/>
            <a:ext cx="3601402" cy="3698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0" i="0" baseline="0">
                <a:solidFill>
                  <a:schemeClr val="tx1"/>
                </a:solidFill>
                <a:latin typeface="Arial"/>
              </a:rPr>
              <a:t>직렬입력직렬출력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5361"/>
          <p:cNvSpPr txBox="1"/>
          <p:nvPr/>
        </p:nvSpPr>
        <p:spPr>
          <a:xfrm>
            <a:off x="319052" y="688844"/>
            <a:ext cx="5040936" cy="4618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  <a:sym typeface="Wingdings"/>
              </a:rPr>
              <a:t>병렬입력 직렬출력 레지스터</a:t>
            </a:r>
          </a:p>
        </p:txBody>
      </p:sp>
      <p:pic>
        <p:nvPicPr>
          <p:cNvPr id="15363" name="그림 1536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3251" y="1264376"/>
            <a:ext cx="7049483" cy="51139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0427" y="1733319"/>
            <a:ext cx="13108915" cy="40464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module </a:t>
            </a:r>
            <a:r>
              <a:rPr lang="ko-KR" altLang="en-US" sz="2000">
                <a:solidFill>
                  <a:srgbClr val="000000"/>
                </a:solidFill>
                <a:ea typeface="굴림"/>
              </a:rPr>
              <a:t> </a:t>
            </a:r>
            <a:r>
              <a:rPr lang="en-US" altLang="ko-KR" sz="2000">
                <a:solidFill>
                  <a:srgbClr val="000000"/>
                </a:solidFill>
                <a:ea typeface="굴림"/>
              </a:rPr>
              <a:t>piso</a:t>
            </a:r>
            <a:r>
              <a:rPr sz="2000">
                <a:solidFill>
                  <a:srgbClr val="000000"/>
                </a:solidFill>
                <a:ea typeface="굴림"/>
              </a:rPr>
              <a:t>4(CLK, SH_LDN,D, Q);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input CLK, SH_LDN;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input [3:0] D;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output Q;reg [3:0] BUFF;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wire Q;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always @(negedge SH_LDN or posedge CLK)begin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if (~SH_LDN)BUFF = D;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else</a:t>
            </a:r>
            <a:r>
              <a:rPr lang="ko-KR" altLang="en-US" sz="2000">
                <a:solidFill>
                  <a:srgbClr val="000000"/>
                </a:solidFill>
                <a:ea typeface="굴림"/>
              </a:rPr>
              <a:t> </a:t>
            </a:r>
            <a:endParaRPr sz="2000">
              <a:solidFill>
                <a:srgbClr val="000000"/>
              </a:solidFill>
              <a:ea typeface="굴림"/>
            </a:endParaRP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begin</a:t>
            </a:r>
            <a:r>
              <a:rPr lang="ko-KR" altLang="en-US" sz="2000">
                <a:solidFill>
                  <a:srgbClr val="000000"/>
                </a:solidFill>
                <a:ea typeface="굴림"/>
              </a:rPr>
              <a:t> </a:t>
            </a:r>
            <a:r>
              <a:rPr sz="2000">
                <a:solidFill>
                  <a:srgbClr val="000000"/>
                </a:solidFill>
                <a:ea typeface="굴림"/>
              </a:rPr>
              <a:t>BUFF[3:1] = BUFF[2:0];BUFF[0] = 1'b0;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end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end</a:t>
            </a:r>
          </a:p>
          <a:p>
            <a:pPr>
              <a:spcBef>
                <a:spcPts val="0"/>
              </a:spcBef>
              <a:defRPr/>
            </a:pPr>
            <a:r>
              <a:rPr sz="2000">
                <a:solidFill>
                  <a:srgbClr val="000000"/>
                </a:solidFill>
                <a:ea typeface="굴림"/>
              </a:rPr>
              <a:t>assign Q = BUFF[3]</a:t>
            </a:r>
            <a:r>
              <a:rPr lang="en-US" altLang="ko-KR" sz="2000">
                <a:solidFill>
                  <a:srgbClr val="000000"/>
                </a:solidFill>
                <a:ea typeface="굴림"/>
              </a:rPr>
              <a:t>;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2000">
                <a:solidFill>
                  <a:srgbClr val="000000"/>
                </a:solidFill>
                <a:ea typeface="굴림"/>
              </a:rPr>
              <a:t>endmodule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401" y="688160"/>
            <a:ext cx="6194321" cy="36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병렬입력직렬출력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385"/>
          <p:cNvSpPr txBox="1"/>
          <p:nvPr/>
        </p:nvSpPr>
        <p:spPr>
          <a:xfrm>
            <a:off x="319052" y="617397"/>
            <a:ext cx="4393397" cy="4603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baseline="0">
                <a:solidFill>
                  <a:schemeClr val="tx1"/>
                </a:solidFill>
                <a:latin typeface="Arial"/>
                <a:ea typeface="굴림"/>
              </a:rPr>
              <a:t>직렬입력 병렬출력 레지스터</a:t>
            </a:r>
          </a:p>
        </p:txBody>
      </p:sp>
      <p:pic>
        <p:nvPicPr>
          <p:cNvPr id="16387" name="그림 16386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255503" y="2434760"/>
            <a:ext cx="6624981" cy="19808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직사각형 1"/>
          <p:cNvSpPr/>
          <p:nvPr/>
        </p:nvSpPr>
        <p:spPr>
          <a:xfrm>
            <a:off x="2284413" y="1015935"/>
            <a:ext cx="4568825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sipo(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CLK, RESETN,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DATA_IN,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reg [3:0] Q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 @( negedge RESETN or posedge CLK)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 (RESETN)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 = 4'b0000;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Q[2:0] = Q[3:1];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Q[3] = DATA_IN;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2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200" b="0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8433"/>
          <p:cNvSpPr txBox="1"/>
          <p:nvPr/>
        </p:nvSpPr>
        <p:spPr>
          <a:xfrm>
            <a:off x="247606" y="544388"/>
            <a:ext cx="3383937" cy="277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비동기식 카운터</a:t>
            </a:r>
          </a:p>
        </p:txBody>
      </p:sp>
      <p:pic>
        <p:nvPicPr>
          <p:cNvPr id="18435" name="그림 18434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966592" y="2128433"/>
            <a:ext cx="6769493" cy="20062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9457"/>
          <p:cNvSpPr txBox="1"/>
          <p:nvPr/>
        </p:nvSpPr>
        <p:spPr>
          <a:xfrm>
            <a:off x="1039601" y="847589"/>
            <a:ext cx="5812390" cy="54774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module asyncount (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input  CLK,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output reg [2:0]  Q    );</a:t>
            </a:r>
          </a:p>
          <a:p>
            <a:pPr marL="0" lvl="0" indent="0" algn="l" rtl="0" eaLnBrk="0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@(negedge CLK)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(Q[0] == 1'b0 )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Q[0] = 1'b1;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	Q[0] = 1'b0;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4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@(negedge Q[0])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(Q[1] == 1'b0 ) 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Q[1] = 1'b1;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Q[1] = 1'b0;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4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@(negedge Q[1]) begin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(Q[2] == 1'b0 )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Q[2] = 1'b1;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	 Q[2] = 1'b0;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19459" name="TextBox 19458"/>
          <p:cNvSpPr txBox="1"/>
          <p:nvPr/>
        </p:nvSpPr>
        <p:spPr>
          <a:xfrm>
            <a:off x="1111047" y="544388"/>
            <a:ext cx="3312490" cy="277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</a:rPr>
              <a:t>비동기식 카운터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20481"/>
          <p:cNvSpPr txBox="1"/>
          <p:nvPr/>
        </p:nvSpPr>
        <p:spPr>
          <a:xfrm>
            <a:off x="174597" y="617397"/>
            <a:ext cx="2953807" cy="27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동기식 카운터</a:t>
            </a:r>
          </a:p>
        </p:txBody>
      </p:sp>
      <p:pic>
        <p:nvPicPr>
          <p:cNvPr id="20483" name="그림 20482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326894" y="1912587"/>
            <a:ext cx="6482200" cy="230303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21505"/>
          <p:cNvSpPr txBox="1"/>
          <p:nvPr/>
        </p:nvSpPr>
        <p:spPr>
          <a:xfrm>
            <a:off x="1184057" y="1193601"/>
            <a:ext cx="4567994" cy="3928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module synccount(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input  RESETN, CLK,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  output reg [2:0]  Q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);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always @(posedge RESETN or negedge CLK)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begin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if (RESETN) Q = 3'b000;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 if (Q &gt;= 3'b111 ) Q = 3'b000;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else Q = Q + 1;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</a:t>
            </a: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400" b="0" i="0" baseline="0">
              <a:solidFill>
                <a:schemeClr val="tx1"/>
              </a:solidFill>
              <a:latin typeface="Arial"/>
            </a:endParaRPr>
          </a:p>
          <a:p>
            <a:pPr marL="0" lvl="0" indent="0" algn="l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400" b="0" i="0" baseline="0">
                <a:solidFill>
                  <a:schemeClr val="tx1"/>
                </a:solidFill>
                <a:latin typeface="Arial"/>
              </a:rPr>
              <a:t>endmodule</a:t>
            </a:r>
          </a:p>
        </p:txBody>
      </p:sp>
      <p:sp>
        <p:nvSpPr>
          <p:cNvPr id="21507" name="TextBox 21506"/>
          <p:cNvSpPr txBox="1"/>
          <p:nvPr/>
        </p:nvSpPr>
        <p:spPr>
          <a:xfrm>
            <a:off x="1111047" y="617397"/>
            <a:ext cx="3096644" cy="27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</a:rPr>
              <a:t>동기식카운터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26625"/>
          <p:cNvSpPr txBox="1"/>
          <p:nvPr/>
        </p:nvSpPr>
        <p:spPr>
          <a:xfrm>
            <a:off x="1615805" y="1671344"/>
            <a:ext cx="9135933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26627" name="그림 26626" descr="EMB000061641373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1615805" y="2128433"/>
            <a:ext cx="5399675" cy="34268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직사각형 1"/>
          <p:cNvSpPr/>
          <p:nvPr/>
        </p:nvSpPr>
        <p:spPr>
          <a:xfrm>
            <a:off x="823525" y="544825"/>
            <a:ext cx="7274525" cy="575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paralaccess_register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 input SI, input [N-1:0] I, input load, input reset_n, output [N-1:0] Q,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SO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 [N-1:0] Q_reg, Q_next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always@(poosedge clk, negedge reset_n)begin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if(!reset_n)   Q_reg &lt;= 1’b0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	Q_reg &lt;= Q_next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always@(SI , Q_reg)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if(load) 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Q_next = I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	Q_next = {SI, O_reg[N-1:1]};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SO = Q_reg[0]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Q_reg ;</a:t>
            </a:r>
          </a:p>
          <a:p>
            <a:pPr marL="0" marR="0" lvl="0" indent="0" algn="just" defTabSz="914400" rtl="0" eaLnBrk="0" latinLnBrk="1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400" b="0" i="0" u="none" strike="noStrike" kern="0" cap="none" spc="0" normalizeH="0" baseline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43" y="1624356"/>
            <a:ext cx="5564734" cy="433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8673"/>
          <p:cNvSpPr txBox="1"/>
          <p:nvPr/>
        </p:nvSpPr>
        <p:spPr>
          <a:xfrm>
            <a:off x="0" y="0"/>
            <a:ext cx="10043861" cy="45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28675" name="그림 28674" descr="EMB000061641371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0" y="457089"/>
            <a:ext cx="5936194" cy="34728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  <p:pic>
        <p:nvPicPr>
          <p:cNvPr id="28676" name="그림 28675"/>
          <p:cNvPicPr/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2987130" y="3955341"/>
            <a:ext cx="5486974" cy="2422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직사각형 1"/>
          <p:cNvSpPr/>
          <p:nvPr/>
        </p:nvSpPr>
        <p:spPr>
          <a:xfrm>
            <a:off x="967575" y="904950"/>
            <a:ext cx="6338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module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universal_register</a:t>
            </a:r>
            <a:endParaRPr kumimoji="1" lang="en-US" altLang="ko-KR" sz="1400" b="0" i="0" u="none" strike="noStrike" kern="0" cap="none" spc="0" normalizeH="0" baseline="0" dirty="0">
              <a:solidFill>
                <a:srgbClr val="000000"/>
              </a:solidFill>
              <a:effectLst/>
              <a:uLnTx/>
              <a:uFillTx/>
              <a:latin typeface="함초롬바탕"/>
              <a:ea typeface="함초롬바탕"/>
              <a:cs typeface="Arial"/>
            </a:endParaRP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#(parameter N= 4) (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input clk.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reset_n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input [N-1:0] I, input [1:0] s,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output [N-1:0] Q );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[N-1:0]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posedge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clk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negedge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reset_n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begin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if(!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reset_n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)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+mn-ea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&lt;= 1’b0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else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	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&lt;=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always@(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LSB_in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I) begin 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case(s)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2’b00: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2’b01: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{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MSB_in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, </a:t>
            </a:r>
            <a:r>
              <a:rPr kumimoji="1" lang="en-US" altLang="ko-KR" sz="1400" b="0" i="0" u="none" strike="noStrike" kern="0" cap="none" spc="0" normalizeH="0" baseline="0" dirty="0" err="1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[N-1:1]} 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2’b10: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{</a:t>
            </a:r>
            <a:r>
              <a:rPr kumimoji="1" lang="en-US" altLang="ko-KR" sz="1400" b="0" i="0" u="none" strike="noStrike" kern="0" cap="none" spc="0" normalizeH="0" baseline="0" dirty="0" err="1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 smtClean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[2:0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],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LSB_in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}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2’b11: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=I;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default :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Q_next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endcase</a:t>
            </a:r>
            <a:endParaRPr kumimoji="1" lang="en-US" altLang="ko-KR" sz="1400" b="0" i="0" u="none" strike="noStrike" kern="0" cap="none" spc="0" normalizeH="0" baseline="0" dirty="0">
              <a:solidFill>
                <a:srgbClr val="000000"/>
              </a:solidFill>
              <a:effectLst/>
              <a:uLnTx/>
              <a:uFillTx/>
              <a:latin typeface="함초롬바탕"/>
              <a:ea typeface="함초롬바탕"/>
              <a:cs typeface="Arial"/>
            </a:endParaRP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assign Q = </a:t>
            </a: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Q_reg</a:t>
            </a:r>
            <a:r>
              <a:rPr kumimoji="1" lang="en-US" altLang="ko-KR" sz="1400" b="0" i="0" u="none" strike="noStrike" kern="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 ;</a:t>
            </a:r>
          </a:p>
          <a:p>
            <a:pPr marL="0" marR="0" lvl="0" indent="0" algn="just" defTabSz="914400" rtl="0" eaLnBrk="0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ko-KR" sz="1400" b="0" i="0" u="none" strike="noStrike" kern="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함초롬바탕"/>
                <a:ea typeface="함초롬바탕"/>
                <a:cs typeface="Arial"/>
              </a:rPr>
              <a:t>endmodule</a:t>
            </a:r>
            <a:endParaRPr kumimoji="1" lang="en-US" altLang="ko-KR" sz="1400" b="0" i="0" u="none" strike="noStrike" kern="0" cap="none" spc="0" normalizeH="0" baseline="0" dirty="0">
              <a:solidFill>
                <a:srgbClr val="000000"/>
              </a:solidFill>
              <a:effectLst/>
              <a:uLnTx/>
              <a:uFillTx/>
              <a:latin typeface="함초롬바탕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22529"/>
          <p:cNvSpPr txBox="1"/>
          <p:nvPr/>
        </p:nvSpPr>
        <p:spPr>
          <a:xfrm>
            <a:off x="174597" y="617397"/>
            <a:ext cx="3888639" cy="27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PIEZO</a:t>
            </a: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  <p:pic>
        <p:nvPicPr>
          <p:cNvPr id="22531" name="그림 22530"/>
          <p:cNvPicPr/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607908" y="1120592"/>
            <a:ext cx="5047299" cy="19046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</p:pic>
      <p:sp>
        <p:nvSpPr>
          <p:cNvPr id="22532" name="TextBox 22531"/>
          <p:cNvSpPr txBox="1"/>
          <p:nvPr/>
        </p:nvSpPr>
        <p:spPr>
          <a:xfrm>
            <a:off x="534899" y="3137893"/>
            <a:ext cx="6121842" cy="33966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module HB_PIEZO( RESETN, CLK, PIEZO );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input RESETN, CLK; output PIEZO;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reg BUFF; integer CNT_SOUND;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wire PIEZO;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always @(posedge RESETN or posedge CLK)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if (RESETN) begin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	BUFF = 1'b0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	CNT_SOUND = 0;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else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if (CNT_SOUND &gt;= 1910)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24577"/>
          <p:cNvSpPr txBox="1"/>
          <p:nvPr/>
        </p:nvSpPr>
        <p:spPr>
          <a:xfrm>
            <a:off x="174597" y="544388"/>
            <a:ext cx="8642339" cy="65170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//도레미파솔라시도 출력 프로그램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module HB_PIANO (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RESETN, CLK, KEY, PIEZO );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input RESETN, CLK;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input [7:0] KEY;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output PIEZO;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reg BUFF;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reg [7:0] CNT_SOUND;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reg [7:0] LIMIT;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wire PIEZO;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always @(KEY)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case (KEY)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8'b10000000 : LIMIT = 1910; // DO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8'b01000000 : LIMIT = 1701; // RAE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8'b00100000 : LIMIT = 1516; // MI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8'b00010000 : LIMIT = 1431; // FA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8'b00001000 : LIMIT = 1275; // SOL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8'b00000100 : LIMIT = 1135; // RA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8'b00000010 : LIMIT = 1011; // SI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8'b00000001 : LIMIT = 955; // High DO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default : LIMIT = 0;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endcase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  <a:ea typeface="굴림"/>
            </a:endParaRP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latin typeface="Arial"/>
              <a:ea typeface="굴림"/>
            </a:endParaRP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25601"/>
          <p:cNvSpPr txBox="1"/>
          <p:nvPr/>
        </p:nvSpPr>
        <p:spPr>
          <a:xfrm>
            <a:off x="174597" y="544388"/>
            <a:ext cx="8642339" cy="48378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always @(posedge CLK) 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if (RESETN)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BUFF = 1'b0;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CNT_SOUND = 0;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end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Else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begin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if (CNT_SOUND &gt;= LIMIT)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Begin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CNT_SOUND = 0;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BUFF = ~ BUFF;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end 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Else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 CNT_SOUND = CNT_SOUND + 1;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assign PIEZO = BUFF;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굴림"/>
              </a:rPr>
              <a:t>endmodule</a:t>
            </a:r>
          </a:p>
          <a:p>
            <a:pPr marL="0" lvl="0" indent="0" algn="l" rtl="0" eaLnBrk="0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>
              <a:solidFill>
                <a:schemeClr val="tx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내용 4개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빈 화면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빈 화면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887</Words>
  <Application>Microsoft Office PowerPoint</Application>
  <PresentationFormat>사용자 지정</PresentationFormat>
  <Paragraphs>278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굴림</vt:lpstr>
      <vt:lpstr>맑은 고딕</vt:lpstr>
      <vt:lpstr>함초롬바탕</vt:lpstr>
      <vt:lpstr>Arial</vt:lpstr>
      <vt:lpstr>Calibri</vt:lpstr>
      <vt:lpstr>Samsung</vt:lpstr>
      <vt:lpstr>Wingdings</vt:lpstr>
      <vt:lpstr>내용 4개</vt:lpstr>
      <vt:lpstr>빈 화면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 이론</dc:title>
  <dc:creator>간달프</dc:creator>
  <cp:lastModifiedBy>SAMSUNG</cp:lastModifiedBy>
  <cp:revision>23</cp:revision>
  <dcterms:created xsi:type="dcterms:W3CDTF">2005-07-04T10:37:59Z</dcterms:created>
  <dcterms:modified xsi:type="dcterms:W3CDTF">2026-03-27T03:49:05Z</dcterms:modified>
  <cp:version>1100.0100.01</cp:version>
</cp:coreProperties>
</file>